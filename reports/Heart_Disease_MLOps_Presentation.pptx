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CV ROC-AUC (5-fold)</c:v>
                </c:pt>
              </c:strCache>
            </c:strRef>
          </c:tx>
          <c:spPr>
            <a:solidFill>
              <a:srgbClr val="14213D"/>
            </a:solidFill>
          </c:spPr>
          <c:cat>
            <c:strRef>
              <c:f>Sheet1!$A$2:$A$5</c:f>
              <c:strCache>
                <c:ptCount val="4"/>
                <c:pt idx="0">
                  <c:v>logreg_baseline</c:v>
                </c:pt>
                <c:pt idx="1">
                  <c:v>logreg</c:v>
                </c:pt>
                <c:pt idx="2">
                  <c:v>random_forest</c:v>
                </c:pt>
                <c:pt idx="3">
                  <c:v>gradient_boosting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0.904</c:v>
                </c:pt>
                <c:pt idx="1">
                  <c:v>0.905</c:v>
                </c:pt>
                <c:pt idx="2">
                  <c:v>0.891</c:v>
                </c:pt>
                <c:pt idx="3">
                  <c:v>0.883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Hold-out ROC-AUC</c:v>
                </c:pt>
              </c:strCache>
            </c:strRef>
          </c:tx>
          <c:spPr>
            <a:solidFill>
              <a:srgbClr val="2A9D8F"/>
            </a:solidFill>
          </c:spPr>
          <c:cat>
            <c:strRef>
              <c:f>Sheet1!$A$2:$A$5</c:f>
              <c:strCache>
                <c:ptCount val="4"/>
                <c:pt idx="0">
                  <c:v>logreg_baseline</c:v>
                </c:pt>
                <c:pt idx="1">
                  <c:v>logreg</c:v>
                </c:pt>
                <c:pt idx="2">
                  <c:v>random_forest</c:v>
                </c:pt>
                <c:pt idx="3">
                  <c:v>gradient_boosting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0.969</c:v>
                </c:pt>
                <c:pt idx="1">
                  <c:v>0.97</c:v>
                </c:pt>
                <c:pt idx="2">
                  <c:v>0.965</c:v>
                </c:pt>
                <c:pt idx="3">
                  <c:v>0.958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8"/>
        </c:scaling>
        <c:delete val="0"/>
        <c:axPos val="l"/>
        <c:majorGridlines>
          <c:spPr>
            <a:ln>
              <a:solidFill>
                <a:srgbClr val="D9DCE1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goal: a heart-disease classifier operated like a production model — everything from data download to monitoring is automated and reproducible.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 each assignment task to what was built; details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src/heart is the single implementation of cleaning, features and inference; notebooks, training CLI, tests and the API all import it. CI builds the image that Kubernetes runs; Prometheus scrapes the pods.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Demo: python scripts/download_data.py --force. Explain why imputation is not done in cleaning.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 the other figures in reports/figures (histograms, boxplots).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src/heart/features.py. Point out the ablation model without engineered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Rule: highest mean 5-fold CV ROC-AUC on the training split; hold-out used only for reporting. Linear models beat tree ensembles on 303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Recall matters most clinically: missing a disease case is costly.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Demo: make mlflow → http://localhost:5000, open a child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Demo: run make lint test live in the terminal.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Quality gate: CV ROC-AUC ≥ 0.85. Artifacts: lint report, JUnit, coverage, model, MLflow store, container logs. Image pushed to GHCR on 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Demo: make docker-build docker-run smoke.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Demo: kubectl -n heart-mlops get pods,svc,ingress,hpa; curl http://heart-api.local/health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Demo: python scripts/load_test.py --url http://heart-api.local, then show Grafana panels updating.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the audience, share the repo link,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417320"/>
            <a:ext cx="109728" cy="192024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325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4A2A8"/>
                </a:solidFill>
                <a:latin typeface="Calibri"/>
              </a:rPr>
              <a:t>MLOPS · ASSIGNMENT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Heart Disease Risk Prediction</a:t>
            </a:r>
          </a:p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End-to-End MLOps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546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C9D3E6"/>
                </a:solidFill>
                <a:latin typeface="Calibri"/>
              </a:rPr>
              <a:t>Data → Model → Tracking → CI/CD → Docker → Kubernetes → Monitoring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84632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9D3E6"/>
                </a:solidFill>
                <a:latin typeface="Calibri"/>
              </a:rPr>
              <a:t>Bala Gangadhara Tilak</a:t>
            </a:r>
          </a:p>
          <a:p>
            <a:pPr algn="l"/>
            <a:r>
              <a:rPr sz="1400" b="0">
                <a:solidFill>
                  <a:srgbClr val="C9D3E6"/>
                </a:solidFill>
                <a:latin typeface="Calibri"/>
              </a:rPr>
              <a:t>AIMLCZG523 Machine Learning Operations · BITS Pilani</a:t>
            </a:r>
          </a:p>
          <a:p>
            <a:pPr algn="l"/>
            <a:r>
              <a:rPr sz="1400" b="0">
                <a:solidFill>
                  <a:srgbClr val="C9D3E6"/>
                </a:solidFill>
                <a:latin typeface="Calibri"/>
              </a:rPr>
              <a:t>https://github.com/TilakMtech/heart-mlops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63946"/>
                </a:solidFill>
                <a:latin typeface="Calibri"/>
              </a:rPr>
              <a:t>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Calibri"/>
              </a:rPr>
              <a:t>Nine assignment tasks, one reproducible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Heart Disease Risk · End-to-End MLOps · AIMLCZG523 Assignment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56539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3566160" cy="132588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1719072"/>
            <a:ext cx="438912" cy="438912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6916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14213D"/>
                </a:solidFill>
                <a:latin typeface="Calibri"/>
              </a:rPr>
              <a:t>Data &amp; EDA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084832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download script, cleaning, 6 figures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463040"/>
            <a:ext cx="3566160" cy="132588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2000" y="1719072"/>
            <a:ext cx="438912" cy="438912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16916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14213D"/>
                </a:solidFill>
                <a:latin typeface="Calibri"/>
              </a:rPr>
              <a:t>Features &amp;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2084832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sklearn Pipeline, 4 tuned models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463040"/>
            <a:ext cx="3566160" cy="132588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66760" y="1719072"/>
            <a:ext cx="438912" cy="438912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16916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14213D"/>
                </a:solidFill>
                <a:latin typeface="Calibri"/>
              </a:rPr>
              <a:t>Experiment tracking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084832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MLflow runs, params, plots, registry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971800"/>
            <a:ext cx="3566160" cy="132588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" y="3227832"/>
            <a:ext cx="438912" cy="438912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2004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14213D"/>
                </a:solidFill>
                <a:latin typeface="Calibri"/>
              </a:rPr>
              <a:t>Packaging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593592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model.joblib + meta, pinned deps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43400" y="2971800"/>
            <a:ext cx="3566160" cy="132588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0" y="3227832"/>
            <a:ext cx="438912" cy="438912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66360" y="32004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14213D"/>
                </a:solidFill>
                <a:latin typeface="Calibri"/>
              </a:rPr>
              <a:t>CI/CD &amp; tests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3593592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GitHub Actions, 37 pytest tests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8160" y="2971800"/>
            <a:ext cx="3566160" cy="132588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366760" y="3227832"/>
            <a:ext cx="438912" cy="438912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32004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14213D"/>
                </a:solidFill>
                <a:latin typeface="Calibri"/>
              </a:rPr>
              <a:t>Containerisation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0" y="3593592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FastAPI /predict in Docker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480560"/>
            <a:ext cx="3566160" cy="132588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7240" y="4736592"/>
            <a:ext cx="438912" cy="438912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47091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14213D"/>
                </a:solidFill>
                <a:latin typeface="Calibri"/>
              </a:rPr>
              <a:t>Deployment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5102352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Minikube: Deployment, LB, Ingress, HPA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43400" y="4480560"/>
            <a:ext cx="3566160" cy="132588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72000" y="4736592"/>
            <a:ext cx="438912" cy="438912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66360" y="47091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14213D"/>
                </a:solidFill>
                <a:latin typeface="Calibri"/>
              </a:rPr>
              <a:t>Monitoring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66360" y="5102352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JSON logs, Prometheus, Grafana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38160" y="4480560"/>
            <a:ext cx="3566160" cy="132588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366760" y="4736592"/>
            <a:ext cx="438912" cy="438912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61120" y="47091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14213D"/>
                </a:solidFill>
                <a:latin typeface="Calibri"/>
              </a:rPr>
              <a:t>Documentation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61120" y="5102352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report, README, architecture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63946"/>
                </a:solidFill>
                <a:latin typeface="Calibr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Calibri"/>
              </a:rPr>
              <a:t>Architecture: one package used by every stage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Heart Disease Risk · End-to-End MLOps · AIMLCZG523 Assignment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56539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3 / 15</a:t>
            </a:r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88" y="1325880"/>
            <a:ext cx="10899544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63946"/>
                </a:solidFill>
                <a:latin typeface="Calibri"/>
              </a:rPr>
              <a:t>TASK 1 · DATA ACQUISITION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Calibri"/>
              </a:rPr>
              <a:t>Data: 303 Cleveland patients, nearly balanced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Heart Disease Risk · End-to-End MLOps · AIMLCZG523 Assignment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56539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4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14213D"/>
                </a:solidFill>
                <a:latin typeface="Calibri"/>
              </a:rPr>
              <a:t>303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7627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patients (UCI Cleveland)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46304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E63946"/>
                </a:solidFill>
                <a:latin typeface="Calibri"/>
              </a:rPr>
              <a:t>46%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17627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have heart disease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74320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14213D"/>
                </a:solidFill>
                <a:latin typeface="Calibri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5643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input 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74320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2A9D8F"/>
                </a:solidFill>
                <a:latin typeface="Calibri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45643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missing values (ca, thal)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114800"/>
            <a:ext cx="49377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E63946"/>
                </a:solidFill>
                <a:latin typeface="Calibri"/>
              </a:rPr>
              <a:t>▸  </a:t>
            </a:r>
            <a:r>
              <a:rPr sz="1400" b="1">
                <a:solidFill>
                  <a:srgbClr val="222B38"/>
                </a:solidFill>
                <a:latin typeface="Calibri"/>
              </a:rPr>
              <a:t>Download script</a:t>
            </a:r>
            <a:r>
              <a:rPr sz="1400">
                <a:solidFill>
                  <a:srgbClr val="222B38"/>
                </a:solidFill>
                <a:latin typeface="Calibri"/>
              </a:rPr>
              <a:t> UCI first, GitHub mirror fallback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E63946"/>
                </a:solidFill>
                <a:latin typeface="Calibri"/>
              </a:rPr>
              <a:t>▸  </a:t>
            </a:r>
            <a:r>
              <a:rPr sz="1400" b="1">
                <a:solidFill>
                  <a:srgbClr val="222B38"/>
                </a:solidFill>
                <a:latin typeface="Calibri"/>
              </a:rPr>
              <a:t>Stateless cleaning</a:t>
            </a:r>
            <a:r>
              <a:rPr sz="1400">
                <a:solidFill>
                  <a:srgbClr val="222B38"/>
                </a:solidFill>
                <a:latin typeface="Calibri"/>
              </a:rPr>
              <a:t> '?' → NaN, target num&gt;0 → 1, range checks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E63946"/>
                </a:solidFill>
                <a:latin typeface="Calibri"/>
              </a:rPr>
              <a:t>▸  </a:t>
            </a:r>
            <a:r>
              <a:rPr sz="1400" b="1">
                <a:solidFill>
                  <a:srgbClr val="222B38"/>
                </a:solidFill>
                <a:latin typeface="Calibri"/>
              </a:rPr>
              <a:t>Imputation inside the pipeline</a:t>
            </a:r>
            <a:r>
              <a:rPr sz="1400">
                <a:solidFill>
                  <a:srgbClr val="222B38"/>
                </a:solidFill>
                <a:latin typeface="Calibri"/>
              </a:rPr>
              <a:t> no leakage, same at serving</a:t>
            </a:r>
          </a:p>
        </p:txBody>
      </p:sp>
      <p:pic>
        <p:nvPicPr>
          <p:cNvPr id="16" name="Picture 15" descr="01_class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563624"/>
            <a:ext cx="5577840" cy="4462272"/>
          </a:xfrm>
          <a:prstGeom prst="rect">
            <a:avLst/>
          </a:prstGeom>
          <a:ln w="9525">
            <a:solidFill>
              <a:srgbClr val="D9DCE1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63946"/>
                </a:solidFill>
                <a:latin typeface="Calibri"/>
              </a:rPr>
              <a:t>TASK 1 · EDA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Calibri"/>
              </a:rPr>
              <a:t>EDA: chest pain, thal and vessels carry the signal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Heart Disease Risk · End-to-End MLOps · AIMLCZG523 Assignment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56539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5 / 15</a:t>
            </a:r>
          </a:p>
        </p:txBody>
      </p:sp>
      <p:pic>
        <p:nvPicPr>
          <p:cNvPr id="7" name="Picture 6" descr="03_categorical_disease_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00175"/>
            <a:ext cx="6766560" cy="2960370"/>
          </a:xfrm>
          <a:prstGeom prst="rect">
            <a:avLst/>
          </a:prstGeom>
          <a:ln w="9525">
            <a:solidFill>
              <a:srgbClr val="D9DCE1"/>
            </a:solidFill>
          </a:ln>
        </p:spPr>
      </p:pic>
      <p:pic>
        <p:nvPicPr>
          <p:cNvPr id="8" name="Picture 7" descr="04_correlation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545336"/>
            <a:ext cx="4023360" cy="3218688"/>
          </a:xfrm>
          <a:prstGeom prst="rect">
            <a:avLst/>
          </a:prstGeom>
          <a:ln w="9525">
            <a:solidFill>
              <a:srgbClr val="D9DCE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4617720"/>
            <a:ext cx="67665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E63946"/>
                </a:solidFill>
                <a:latin typeface="Calibri"/>
              </a:rPr>
              <a:t>▸  </a:t>
            </a:r>
            <a:r>
              <a:rPr sz="1300" b="1">
                <a:solidFill>
                  <a:srgbClr val="222B38"/>
                </a:solidFill>
                <a:latin typeface="Calibri"/>
              </a:rPr>
              <a:t>Strongest correlations with target:</a:t>
            </a:r>
            <a:r>
              <a:rPr sz="1300">
                <a:solidFill>
                  <a:srgbClr val="222B38"/>
                </a:solidFill>
                <a:latin typeface="Calibri"/>
              </a:rPr>
              <a:t>  thal 0.53, ca 0.46, exang 0.43, oldpeak 0.42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E63946"/>
                </a:solidFill>
                <a:latin typeface="Calibri"/>
              </a:rPr>
              <a:t>▸  </a:t>
            </a:r>
            <a:r>
              <a:rPr sz="1300" b="1">
                <a:solidFill>
                  <a:srgbClr val="222B38"/>
                </a:solidFill>
                <a:latin typeface="Calibri"/>
              </a:rPr>
              <a:t>Asymptomatic chest pain (cp=4) and reversible defect (thal=7)</a:t>
            </a:r>
            <a:r>
              <a:rPr sz="1300">
                <a:solidFill>
                  <a:srgbClr val="222B38"/>
                </a:solidFill>
                <a:latin typeface="Calibri"/>
              </a:rPr>
              <a:t>  → disease rate above 70 %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E63946"/>
                </a:solidFill>
                <a:latin typeface="Calibri"/>
              </a:rPr>
              <a:t>▸  </a:t>
            </a:r>
            <a:r>
              <a:rPr sz="1300" b="1">
                <a:solidFill>
                  <a:srgbClr val="222B38"/>
                </a:solidFill>
                <a:latin typeface="Calibri"/>
              </a:rPr>
              <a:t>chol, trestbps</a:t>
            </a:r>
            <a:r>
              <a:rPr sz="1300">
                <a:solidFill>
                  <a:srgbClr val="222B38"/>
                </a:solidFill>
                <a:latin typeface="Calibri"/>
              </a:rPr>
              <a:t>  overlap heavily between classes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63946"/>
                </a:solidFill>
                <a:latin typeface="Calibri"/>
              </a:rPr>
              <a:t>TASK 2 ·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Calibri"/>
              </a:rPr>
              <a:t>Feature engineering lives inside the model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Heart Disease Risk · End-to-End MLOps · AIMLCZG523 Assignment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56539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6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2468880" cy="1143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4708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HeartFeatureBuilder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8600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C9D3E6"/>
                </a:solidFill>
                <a:latin typeface="Calibri"/>
              </a:rPr>
              <a:t>derived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1993392"/>
            <a:ext cx="3840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E63946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01568" y="1645920"/>
            <a:ext cx="2468880" cy="1143000"/>
          </a:xfrm>
          <a:prstGeom prst="rect">
            <a:avLst/>
          </a:prstGeom>
          <a:solidFill>
            <a:srgbClr val="1F3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01568" y="184708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Impute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28600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C9D3E6"/>
                </a:solidFill>
                <a:latin typeface="Calibri"/>
              </a:rPr>
              <a:t>median / mode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0448" y="1993392"/>
            <a:ext cx="3840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E63946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54496" y="1645920"/>
            <a:ext cx="2468880" cy="1143000"/>
          </a:xfrm>
          <a:prstGeom prst="rect">
            <a:avLst/>
          </a:prstGeom>
          <a:solidFill>
            <a:srgbClr val="1F3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54496" y="184708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Scale + One-hot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4496" y="228600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C9D3E6"/>
                </a:solidFill>
                <a:latin typeface="Calibri"/>
              </a:rPr>
              <a:t>ColumnTransformer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23376" y="1993392"/>
            <a:ext cx="3840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E63946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07424" y="1645920"/>
            <a:ext cx="2468880" cy="1143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7424" y="184708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Classifier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7424" y="228600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C9D3E6"/>
                </a:solidFill>
                <a:latin typeface="Calibri"/>
              </a:rPr>
              <a:t>tuned estimator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246120"/>
            <a:ext cx="56692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E63946"/>
                </a:solidFill>
                <a:latin typeface="Calibri"/>
              </a:rPr>
              <a:t>▸  </a:t>
            </a:r>
            <a:r>
              <a:rPr sz="1400" b="1">
                <a:solidFill>
                  <a:srgbClr val="222B38"/>
                </a:solidFill>
                <a:latin typeface="Calibri"/>
              </a:rPr>
              <a:t>hr_reserve_pct</a:t>
            </a:r>
            <a:r>
              <a:rPr sz="1400">
                <a:solidFill>
                  <a:srgbClr val="222B38"/>
                </a:solidFill>
                <a:latin typeface="Calibri"/>
              </a:rPr>
              <a:t> thalach / (220 − age)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E63946"/>
                </a:solidFill>
                <a:latin typeface="Calibri"/>
              </a:rPr>
              <a:t>▸  </a:t>
            </a:r>
            <a:r>
              <a:rPr sz="1400" b="1">
                <a:solidFill>
                  <a:srgbClr val="222B38"/>
                </a:solidFill>
                <a:latin typeface="Calibri"/>
              </a:rPr>
              <a:t>chol_per_age</a:t>
            </a:r>
            <a:r>
              <a:rPr sz="1400">
                <a:solidFill>
                  <a:srgbClr val="222B38"/>
                </a:solidFill>
                <a:latin typeface="Calibri"/>
              </a:rPr>
              <a:t> cholesterol load relative to age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E63946"/>
                </a:solidFill>
                <a:latin typeface="Calibri"/>
              </a:rPr>
              <a:t>▸  </a:t>
            </a:r>
            <a:r>
              <a:rPr sz="1400" b="1">
                <a:solidFill>
                  <a:srgbClr val="222B38"/>
                </a:solidFill>
                <a:latin typeface="Calibri"/>
              </a:rPr>
              <a:t>st_risk_flag</a:t>
            </a:r>
            <a:r>
              <a:rPr sz="1400">
                <a:solidFill>
                  <a:srgbClr val="222B38"/>
                </a:solidFill>
                <a:latin typeface="Calibri"/>
              </a:rPr>
              <a:t> oldpeak ≥ 2 or exercise angina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E63946"/>
                </a:solidFill>
                <a:latin typeface="Calibri"/>
              </a:rPr>
              <a:t>▸  </a:t>
            </a:r>
            <a:r>
              <a:rPr sz="1400" b="1">
                <a:solidFill>
                  <a:srgbClr val="222B38"/>
                </a:solidFill>
                <a:latin typeface="Calibri"/>
              </a:rPr>
              <a:t>One object saved</a:t>
            </a:r>
            <a:r>
              <a:rPr sz="1400">
                <a:solidFill>
                  <a:srgbClr val="222B38"/>
                </a:solidFill>
                <a:latin typeface="Calibri"/>
              </a:rPr>
              <a:t> training and API apply identical transforms</a:t>
            </a:r>
          </a:p>
        </p:txBody>
      </p:sp>
      <p:pic>
        <p:nvPicPr>
          <p:cNvPr id="23" name="Picture 22" descr="logreg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008" y="3108960"/>
            <a:ext cx="4352544" cy="3108960"/>
          </a:xfrm>
          <a:prstGeom prst="rect">
            <a:avLst/>
          </a:prstGeom>
          <a:ln w="9525">
            <a:solidFill>
              <a:srgbClr val="D9DCE1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63946"/>
                </a:solidFill>
                <a:latin typeface="Calibri"/>
              </a:rPr>
              <a:t>TASK 2 · MODEL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Calibri"/>
              </a:rPr>
              <a:t>logreg wins on cross-validated ROC-AUC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Heart Disease Risk · End-to-End MLOps · AIMLCZG523 Assignment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56539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7 / 15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48640" y="1371600"/>
          <a:ext cx="731520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8229600" y="1463040"/>
            <a:ext cx="3429000" cy="466344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16916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63946"/>
                </a:solidFill>
                <a:latin typeface="Calibri"/>
              </a:rPr>
              <a:t>SELECTED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96596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4213D"/>
                </a:solidFill>
                <a:latin typeface="Calibri"/>
              </a:rPr>
              <a:t>logreg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46888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C=0.3, class_weight=balanced, penalty=l1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154680"/>
            <a:ext cx="29260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14213D"/>
                </a:solidFill>
                <a:latin typeface="Calibri"/>
              </a:rPr>
              <a:t>0.905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386791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CV ROC-AUC  (± 0.013)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4389120"/>
            <a:ext cx="29260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E63946"/>
                </a:solidFill>
                <a:latin typeface="Calibri"/>
              </a:rPr>
              <a:t>96%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510235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hold-out recall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63946"/>
                </a:solidFill>
                <a:latin typeface="Calibri"/>
              </a:rPr>
              <a:t>TASK 2 ·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Calibri"/>
              </a:rPr>
              <a:t>Selected model on the hold-out 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Heart Disease Risk · End-to-End MLOps · AIMLCZG523 Assignment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56539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8 / 15</a:t>
            </a:r>
          </a:p>
        </p:txBody>
      </p:sp>
      <p:pic>
        <p:nvPicPr>
          <p:cNvPr id="7" name="Picture 6" descr="logreg_eval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64195"/>
            <a:ext cx="11064240" cy="3180969"/>
          </a:xfrm>
          <a:prstGeom prst="rect">
            <a:avLst/>
          </a:prstGeom>
          <a:ln w="9525">
            <a:solidFill>
              <a:srgbClr val="D9DCE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22960" y="5074920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14213D"/>
                </a:solidFill>
                <a:latin typeface="Calibri"/>
              </a:rPr>
              <a:t>86.9%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7881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5074920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14213D"/>
                </a:solidFill>
                <a:latin typeface="Calibri"/>
              </a:rPr>
              <a:t>79.4%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57881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precision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5074920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E63946"/>
                </a:solidFill>
                <a:latin typeface="Calibri"/>
              </a:rPr>
              <a:t>96.4%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57881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5074920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14213D"/>
                </a:solidFill>
                <a:latin typeface="Calibri"/>
              </a:rPr>
              <a:t>0.970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57881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ROC-AUC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63946"/>
                </a:solidFill>
                <a:latin typeface="Calibri"/>
              </a:rPr>
              <a:t>TASK 3 · EXPERIMENT 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Calibri"/>
              </a:rPr>
              <a:t>Every run tracked in MLflow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Heart Disease Risk · End-to-End MLOps · AIMLCZG523 Assignment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56539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9 / 15</a:t>
            </a:r>
          </a:p>
        </p:txBody>
      </p:sp>
      <p:pic>
        <p:nvPicPr>
          <p:cNvPr id="7" name="Picture 6" descr="01_mlflow_experi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02572"/>
            <a:ext cx="5486400" cy="3229896"/>
          </a:xfrm>
          <a:prstGeom prst="rect">
            <a:avLst/>
          </a:prstGeom>
          <a:ln w="9525">
            <a:solidFill>
              <a:srgbClr val="D9DCE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4709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Parent + nested runs</a:t>
            </a:r>
          </a:p>
        </p:txBody>
      </p:sp>
      <p:pic>
        <p:nvPicPr>
          <p:cNvPr id="9" name="Picture 8" descr="02_mlflow_run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402572"/>
            <a:ext cx="5486400" cy="3229896"/>
          </a:xfrm>
          <a:prstGeom prst="rect">
            <a:avLst/>
          </a:prstGeom>
          <a:ln w="9525">
            <a:solidFill>
              <a:srgbClr val="D9DCE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172200" y="4709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Run comparison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749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E63946"/>
                </a:solidFill>
                <a:latin typeface="Calibri"/>
              </a:rPr>
              <a:t>▸  </a:t>
            </a:r>
            <a:r>
              <a:rPr sz="1300" b="1">
                <a:solidFill>
                  <a:srgbClr val="222B38"/>
                </a:solidFill>
                <a:latin typeface="Calibri"/>
              </a:rPr>
              <a:t>Params</a:t>
            </a:r>
            <a:r>
              <a:rPr sz="1300">
                <a:solidFill>
                  <a:srgbClr val="222B38"/>
                </a:solidFill>
                <a:latin typeface="Calibri"/>
              </a:rPr>
              <a:t> best hyper-parameters, grid size, feature set    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E63946"/>
                </a:solidFill>
                <a:latin typeface="Calibri"/>
              </a:rPr>
              <a:t>▸  </a:t>
            </a:r>
            <a:r>
              <a:rPr sz="1300" b="1">
                <a:solidFill>
                  <a:srgbClr val="222B38"/>
                </a:solidFill>
                <a:latin typeface="Calibri"/>
              </a:rPr>
              <a:t>Metrics</a:t>
            </a:r>
            <a:r>
              <a:rPr sz="1300">
                <a:solidFill>
                  <a:srgbClr val="222B38"/>
                </a:solidFill>
                <a:latin typeface="Calibri"/>
              </a:rPr>
              <a:t> CV mean ± std for 5 metrics, hold-out metrics    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E63946"/>
                </a:solidFill>
                <a:latin typeface="Calibri"/>
              </a:rPr>
              <a:t>▸  </a:t>
            </a:r>
            <a:r>
              <a:rPr sz="1300" b="1">
                <a:solidFill>
                  <a:srgbClr val="222B38"/>
                </a:solidFill>
                <a:latin typeface="Calibri"/>
              </a:rPr>
              <a:t>Artifacts</a:t>
            </a:r>
            <a:r>
              <a:rPr sz="1300">
                <a:solidFill>
                  <a:srgbClr val="222B38"/>
                </a:solidFill>
                <a:latin typeface="Calibri"/>
              </a:rPr>
              <a:t> plots, grid results, model with signature, registry entry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63946"/>
                </a:solidFill>
                <a:latin typeface="Calibri"/>
              </a:rPr>
              <a:t>TASKS 4–5 · PACKAGING &amp; TESTS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Calibri"/>
              </a:rPr>
              <a:t>Reproducible packaging and automated tests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Heart Disease Risk · End-to-End MLOps · AIMLCZG523 Assignment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56539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10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E63946"/>
                </a:solidFill>
                <a:latin typeface="Calibri"/>
              </a:rPr>
              <a:t>▸  </a:t>
            </a:r>
            <a:r>
              <a:rPr sz="1500" b="1">
                <a:solidFill>
                  <a:srgbClr val="222B38"/>
                </a:solidFill>
                <a:latin typeface="Calibri"/>
              </a:rPr>
              <a:t>models/model.joblib</a:t>
            </a:r>
            <a:r>
              <a:rPr sz="1500">
                <a:solidFill>
                  <a:srgbClr val="222B38"/>
                </a:solidFill>
                <a:latin typeface="Calibri"/>
              </a:rPr>
              <a:t> whole pipeline in one object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63946"/>
                </a:solidFill>
                <a:latin typeface="Calibri"/>
              </a:rPr>
              <a:t>▸  </a:t>
            </a:r>
            <a:r>
              <a:rPr sz="1500" b="1">
                <a:solidFill>
                  <a:srgbClr val="222B38"/>
                </a:solidFill>
                <a:latin typeface="Calibri"/>
              </a:rPr>
              <a:t>model_meta.json</a:t>
            </a:r>
            <a:r>
              <a:rPr sz="1500">
                <a:solidFill>
                  <a:srgbClr val="222B38"/>
                </a:solidFill>
                <a:latin typeface="Calibri"/>
              </a:rPr>
              <a:t> version, run IDs, params, metrics, feature order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63946"/>
                </a:solidFill>
                <a:latin typeface="Calibri"/>
              </a:rPr>
              <a:t>▸  </a:t>
            </a:r>
            <a:r>
              <a:rPr sz="1500" b="1">
                <a:solidFill>
                  <a:srgbClr val="222B38"/>
                </a:solidFill>
                <a:latin typeface="Calibri"/>
              </a:rPr>
              <a:t>3-layer requirements</a:t>
            </a:r>
            <a:r>
              <a:rPr sz="1500">
                <a:solidFill>
                  <a:srgbClr val="222B38"/>
                </a:solidFill>
                <a:latin typeface="Calibri"/>
              </a:rPr>
              <a:t> serve · train · dev, all pinned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63946"/>
                </a:solidFill>
                <a:latin typeface="Calibri"/>
              </a:rPr>
              <a:t>▸  </a:t>
            </a:r>
            <a:r>
              <a:rPr sz="1500" b="1">
                <a:solidFill>
                  <a:srgbClr val="222B38"/>
                </a:solidFill>
                <a:latin typeface="Calibri"/>
              </a:rPr>
              <a:t>Fixed seeds</a:t>
            </a:r>
            <a:r>
              <a:rPr sz="1500">
                <a:solidFill>
                  <a:srgbClr val="222B38"/>
                </a:solidFill>
                <a:latin typeface="Calibri"/>
              </a:rPr>
              <a:t> RANDOM_STATE = 42 everywhere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63946"/>
                </a:solidFill>
                <a:latin typeface="Calibri"/>
              </a:rPr>
              <a:t>▸  </a:t>
            </a:r>
            <a:r>
              <a:rPr sz="1500" b="1">
                <a:solidFill>
                  <a:srgbClr val="222B38"/>
                </a:solidFill>
                <a:latin typeface="Calibri"/>
              </a:rPr>
              <a:t>37 pytest tests</a:t>
            </a:r>
            <a:r>
              <a:rPr sz="1500">
                <a:solidFill>
                  <a:srgbClr val="222B38"/>
                </a:solidFill>
                <a:latin typeface="Calibri"/>
              </a:rPr>
              <a:t> data, features, model, API — no network needed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63946"/>
                </a:solidFill>
                <a:latin typeface="Calibri"/>
              </a:rPr>
              <a:t>▸  </a:t>
            </a:r>
            <a:r>
              <a:rPr sz="1500" b="1">
                <a:solidFill>
                  <a:srgbClr val="222B38"/>
                </a:solidFill>
                <a:latin typeface="Calibri"/>
              </a:rPr>
              <a:t>Make targets</a:t>
            </a:r>
            <a:r>
              <a:rPr sz="1500">
                <a:solidFill>
                  <a:srgbClr val="222B38"/>
                </a:solidFill>
                <a:latin typeface="Calibri"/>
              </a:rPr>
              <a:t> make data · train · test · lint · docker-build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463040"/>
            <a:ext cx="5257800" cy="46634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691640"/>
            <a:ext cx="4754880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C9D3E6"/>
                </a:solidFill>
                <a:latin typeface="Calibri"/>
              </a:rPr>
              <a:t>$ make lint</a:t>
            </a:r>
          </a:p>
          <a:p>
            <a:pPr algn="l"/>
            <a:r>
              <a:rPr sz="1500" b="0">
                <a:solidFill>
                  <a:srgbClr val="C9D3E6"/>
                </a:solidFill>
                <a:latin typeface="Calibri"/>
              </a:rPr>
              <a:t>python -m flake8</a:t>
            </a:r>
          </a:p>
          <a:p>
            <a:pPr algn="l"/>
            <a:r>
              <a:rPr sz="1500" b="0">
                <a:solidFill>
                  <a:srgbClr val="C9D3E6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C9D3E6"/>
                </a:solidFill>
                <a:latin typeface="Calibri"/>
              </a:rPr>
              <a:t>$ make test</a:t>
            </a:r>
          </a:p>
          <a:p>
            <a:pPr algn="l"/>
            <a:r>
              <a:rPr sz="1500" b="0">
                <a:solidFill>
                  <a:srgbClr val="C9D3E6"/>
                </a:solidFill>
                <a:latin typeface="Calibri"/>
              </a:rPr>
              <a:t>37 passed</a:t>
            </a:r>
          </a:p>
          <a:p>
            <a:pPr algn="l"/>
            <a:r>
              <a:rPr sz="1500" b="0">
                <a:solidFill>
                  <a:srgbClr val="C9D3E6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C9D3E6"/>
                </a:solidFill>
                <a:latin typeface="Calibri"/>
              </a:rPr>
              <a:t>$ make train</a:t>
            </a:r>
          </a:p>
          <a:p>
            <a:pPr algn="l"/>
            <a:r>
              <a:rPr sz="1500" b="0">
                <a:solidFill>
                  <a:srgbClr val="C9D3E6"/>
                </a:solidFill>
                <a:latin typeface="Calibri"/>
              </a:rPr>
              <a:t>Selected logreg -&gt; models/model.joblib</a:t>
            </a:r>
          </a:p>
          <a:p>
            <a:pPr algn="l"/>
            <a:r>
              <a:rPr sz="1500" b="0">
                <a:solidFill>
                  <a:srgbClr val="C9D3E6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C9D3E6"/>
                </a:solidFill>
                <a:latin typeface="Calibri"/>
              </a:rPr>
              <a:t>$ make docker-build docker-run smoke</a:t>
            </a:r>
          </a:p>
          <a:p>
            <a:pPr algn="l"/>
            <a:r>
              <a:rPr sz="1500" b="0">
                <a:solidFill>
                  <a:srgbClr val="C9D3E6"/>
                </a:solidFill>
                <a:latin typeface="Calibri"/>
              </a:rPr>
              <a:t>SMOKE TEST PASSED</a:t>
            </a:r>
          </a:p>
          <a:p>
            <a:pPr algn="l"/>
            <a:r>
              <a:rPr sz="1500" b="0">
                <a:solidFill>
                  <a:srgbClr val="C9D3E6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C9D3E6"/>
                </a:solidFill>
                <a:latin typeface="Calibri"/>
              </a:rPr>
              <a:t>$ ./scripts/deploy_minikube.sh</a:t>
            </a:r>
          </a:p>
          <a:p>
            <a:pPr algn="l"/>
            <a:r>
              <a:rPr sz="1500" b="0">
                <a:solidFill>
                  <a:srgbClr val="C9D3E6"/>
                </a:solidFill>
                <a:latin typeface="Calibri"/>
              </a:rPr>
              <a:t>deployment "heart-api" successfully rolled out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63946"/>
                </a:solidFill>
                <a:latin typeface="Calibri"/>
              </a:rPr>
              <a:t>TASK 5 · CI/CD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Calibri"/>
              </a:rPr>
              <a:t>GitHub Actions gates every change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Heart Disease Risk · End-to-End MLOps · AIMLCZG523 Assignment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56539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11 /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057400" cy="640080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lint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208" y="1417320"/>
            <a:ext cx="2057400" cy="640080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07208" y="1417320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k8s-validate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65776" y="1417320"/>
            <a:ext cx="2057400" cy="640080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65776" y="1417320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24344" y="1417320"/>
            <a:ext cx="2057400" cy="640080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24344" y="1417320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train + gate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82912" y="1417320"/>
            <a:ext cx="2057400" cy="64008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82912" y="1417320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docker</a:t>
            </a:r>
          </a:p>
        </p:txBody>
      </p:sp>
      <p:pic>
        <p:nvPicPr>
          <p:cNvPr id="17" name="Picture 16" descr="04_github_actions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059" y="2331720"/>
            <a:ext cx="5824602" cy="3429000"/>
          </a:xfrm>
          <a:prstGeom prst="rect">
            <a:avLst/>
          </a:prstGeom>
          <a:ln w="9525">
            <a:solidFill>
              <a:srgbClr val="D9DCE1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548640" y="580644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Green run on main</a:t>
            </a:r>
          </a:p>
        </p:txBody>
      </p:sp>
      <p:pic>
        <p:nvPicPr>
          <p:cNvPr id="19" name="Picture 18" descr="06_github_actions_fail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79" y="2888840"/>
            <a:ext cx="3931920" cy="2314759"/>
          </a:xfrm>
          <a:prstGeom prst="rect">
            <a:avLst/>
          </a:prstGeom>
          <a:ln w="9525">
            <a:solidFill>
              <a:srgbClr val="D9DCE1"/>
            </a:solidFill>
          </a:ln>
        </p:spPr>
      </p:pic>
      <p:sp>
        <p:nvSpPr>
          <p:cNvPr id="20" name="TextBox 19"/>
          <p:cNvSpPr txBox="1"/>
          <p:nvPr/>
        </p:nvSpPr>
        <p:spPr>
          <a:xfrm>
            <a:off x="7726679" y="580644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Lint error stops the pipeline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63946"/>
                </a:solidFill>
                <a:latin typeface="Calibri"/>
              </a:rPr>
              <a:t>TASK 6 · CONTAINERISATION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Calibri"/>
              </a:rPr>
              <a:t>FastAPI service in a slim, non-root container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Heart Disease Risk · End-to-End MLOps · AIMLCZG523 Assignment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56539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12 / 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51206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01752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Endpoint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Returns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Calibri"/>
                        </a:rPr>
                        <a:t>POST /predict</a:t>
                      </a:r>
                    </a:p>
                  </a:txBody>
                  <a:tcPr>
                    <a:solidFill>
                      <a:srgbClr val="F6F4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prediction, confidence, risk band</a:t>
                      </a:r>
                    </a:p>
                  </a:txBody>
                  <a:tcPr>
                    <a:solidFill>
                      <a:srgbClr val="F6F4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Calibri"/>
                        </a:rPr>
                        <a:t>POST /predict/batch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up to 500 records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Calibri"/>
                        </a:rPr>
                        <a:t>GET /health</a:t>
                      </a:r>
                    </a:p>
                  </a:txBody>
                  <a:tcPr>
                    <a:solidFill>
                      <a:srgbClr val="F6F4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200 when model loaded</a:t>
                      </a:r>
                    </a:p>
                  </a:txBody>
                  <a:tcPr>
                    <a:solidFill>
                      <a:srgbClr val="F6F4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Calibri"/>
                        </a:rPr>
                        <a:t>GET /metrics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Prometheus format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Calibri"/>
                        </a:rPr>
                        <a:t>GET /docs</a:t>
                      </a:r>
                    </a:p>
                  </a:txBody>
                  <a:tcPr>
                    <a:solidFill>
                      <a:srgbClr val="F6F4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Swagger UI</a:t>
                      </a:r>
                    </a:p>
                  </a:txBody>
                  <a:tcPr>
                    <a:solidFill>
                      <a:srgbClr val="F6F4E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5262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E63946"/>
                </a:solidFill>
                <a:latin typeface="Calibri"/>
              </a:rPr>
              <a:t>▸  </a:t>
            </a:r>
            <a:r>
              <a:rPr sz="1300" b="1">
                <a:solidFill>
                  <a:srgbClr val="222B38"/>
                </a:solidFill>
                <a:latin typeface="Calibri"/>
              </a:rPr>
              <a:t>python:3.11-slim</a:t>
            </a:r>
            <a:r>
              <a:rPr sz="1300">
                <a:solidFill>
                  <a:srgbClr val="222B38"/>
                </a:solidFill>
                <a:latin typeface="Calibri"/>
              </a:rPr>
              <a:t> serving deps only, UID 1001, HEALTHCHECK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63946"/>
                </a:solidFill>
                <a:latin typeface="Calibri"/>
              </a:rPr>
              <a:t>▸  </a:t>
            </a:r>
            <a:r>
              <a:rPr sz="1300" b="1">
                <a:solidFill>
                  <a:srgbClr val="222B38"/>
                </a:solidFill>
                <a:latin typeface="Calibri"/>
              </a:rPr>
              <a:t>Pydantic validation</a:t>
            </a:r>
            <a:r>
              <a:rPr sz="1300">
                <a:solidFill>
                  <a:srgbClr val="222B38"/>
                </a:solidFill>
                <a:latin typeface="Calibri"/>
              </a:rPr>
              <a:t> bad input → 422</a:t>
            </a:r>
          </a:p>
        </p:txBody>
      </p:sp>
      <p:pic>
        <p:nvPicPr>
          <p:cNvPr id="9" name="Picture 8" descr="08_swagger_pre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0735" y="1371600"/>
            <a:ext cx="3960729" cy="2331720"/>
          </a:xfrm>
          <a:prstGeom prst="rect">
            <a:avLst/>
          </a:prstGeom>
          <a:ln w="9525">
            <a:solidFill>
              <a:srgbClr val="D9DCE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943600" y="3749040"/>
            <a:ext cx="5715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Swagger /predict</a:t>
            </a:r>
          </a:p>
        </p:txBody>
      </p:sp>
      <p:pic>
        <p:nvPicPr>
          <p:cNvPr id="11" name="Picture 10" descr="07_docker_build_r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4888" y="3931920"/>
            <a:ext cx="3572423" cy="2103120"/>
          </a:xfrm>
          <a:prstGeom prst="rect">
            <a:avLst/>
          </a:prstGeom>
          <a:ln w="9525">
            <a:solidFill>
              <a:srgbClr val="D9DCE1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5943600" y="6080760"/>
            <a:ext cx="5715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Build + smoke test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63946"/>
                </a:solidFill>
                <a:latin typeface="Calibri"/>
              </a:rPr>
              <a:t>TASK 7 ·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Calibri"/>
              </a:rPr>
              <a:t>Deployed on Kubernetes (Minikube)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Heart Disease Risk · End-to-End MLOps · AIMLCZG523 Assignment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56539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13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42062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E63946"/>
                </a:solidFill>
                <a:latin typeface="Calibri"/>
              </a:rPr>
              <a:t>▸  </a:t>
            </a:r>
            <a:r>
              <a:rPr sz="1400" b="1">
                <a:solidFill>
                  <a:srgbClr val="222B38"/>
                </a:solidFill>
                <a:latin typeface="Calibri"/>
              </a:rPr>
              <a:t>Deployment</a:t>
            </a:r>
            <a:r>
              <a:rPr sz="1400">
                <a:solidFill>
                  <a:srgbClr val="222B38"/>
                </a:solidFill>
                <a:latin typeface="Calibri"/>
              </a:rPr>
              <a:t> 2 replicas, rolling update, probes, limits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E63946"/>
                </a:solidFill>
                <a:latin typeface="Calibri"/>
              </a:rPr>
              <a:t>▸  </a:t>
            </a:r>
            <a:r>
              <a:rPr sz="1400" b="1">
                <a:solidFill>
                  <a:srgbClr val="222B38"/>
                </a:solidFill>
                <a:latin typeface="Calibri"/>
              </a:rPr>
              <a:t>Service</a:t>
            </a:r>
            <a:r>
              <a:rPr sz="1400">
                <a:solidFill>
                  <a:srgbClr val="222B38"/>
                </a:solidFill>
                <a:latin typeface="Calibri"/>
              </a:rPr>
              <a:t> LoadBalancer on :8080 (minikube tunnel)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E63946"/>
                </a:solidFill>
                <a:latin typeface="Calibri"/>
              </a:rPr>
              <a:t>▸  </a:t>
            </a:r>
            <a:r>
              <a:rPr sz="1400" b="1">
                <a:solidFill>
                  <a:srgbClr val="222B38"/>
                </a:solidFill>
                <a:latin typeface="Calibri"/>
              </a:rPr>
              <a:t>Ingress</a:t>
            </a:r>
            <a:r>
              <a:rPr sz="1400">
                <a:solidFill>
                  <a:srgbClr val="222B38"/>
                </a:solidFill>
                <a:latin typeface="Calibri"/>
              </a:rPr>
              <a:t> nginx, host heart-api.local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E63946"/>
                </a:solidFill>
                <a:latin typeface="Calibri"/>
              </a:rPr>
              <a:t>▸  </a:t>
            </a:r>
            <a:r>
              <a:rPr sz="1400" b="1">
                <a:solidFill>
                  <a:srgbClr val="222B38"/>
                </a:solidFill>
                <a:latin typeface="Calibri"/>
              </a:rPr>
              <a:t>HPA</a:t>
            </a:r>
            <a:r>
              <a:rPr sz="1400">
                <a:solidFill>
                  <a:srgbClr val="222B38"/>
                </a:solidFill>
                <a:latin typeface="Calibri"/>
              </a:rPr>
              <a:t> 2–5 replicas at 70 % CPU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E63946"/>
                </a:solidFill>
                <a:latin typeface="Calibri"/>
              </a:rPr>
              <a:t>▸  </a:t>
            </a:r>
            <a:r>
              <a:rPr sz="1400" b="1">
                <a:solidFill>
                  <a:srgbClr val="222B38"/>
                </a:solidFill>
                <a:latin typeface="Calibri"/>
              </a:rPr>
              <a:t>Kustomize</a:t>
            </a:r>
            <a:r>
              <a:rPr sz="1400">
                <a:solidFill>
                  <a:srgbClr val="222B38"/>
                </a:solidFill>
                <a:latin typeface="Calibri"/>
              </a:rPr>
              <a:t> kubectl apply -k k8s/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E63946"/>
                </a:solidFill>
                <a:latin typeface="Calibri"/>
              </a:rPr>
              <a:t>▸  </a:t>
            </a:r>
            <a:r>
              <a:rPr sz="1400" b="1">
                <a:solidFill>
                  <a:srgbClr val="222B38"/>
                </a:solidFill>
                <a:latin typeface="Calibri"/>
              </a:rPr>
              <a:t>One script</a:t>
            </a:r>
            <a:r>
              <a:rPr sz="1400">
                <a:solidFill>
                  <a:srgbClr val="222B38"/>
                </a:solidFill>
                <a:latin typeface="Calibri"/>
              </a:rPr>
              <a:t> ./scripts/deploy_minikube.sh</a:t>
            </a:r>
          </a:p>
        </p:txBody>
      </p:sp>
      <p:pic>
        <p:nvPicPr>
          <p:cNvPr id="8" name="Picture 7" descr="09_k8s_resou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1196" y="1371600"/>
            <a:ext cx="3805407" cy="2240280"/>
          </a:xfrm>
          <a:prstGeom prst="rect">
            <a:avLst/>
          </a:prstGeom>
          <a:ln w="9525">
            <a:solidFill>
              <a:srgbClr val="D9DCE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029200" y="3657600"/>
            <a:ext cx="6629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Cluster resources</a:t>
            </a:r>
          </a:p>
        </p:txBody>
      </p:sp>
      <p:pic>
        <p:nvPicPr>
          <p:cNvPr id="10" name="Picture 9" descr="10_k8s_predict_ingr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7688" y="3931920"/>
            <a:ext cx="3572423" cy="2103120"/>
          </a:xfrm>
          <a:prstGeom prst="rect">
            <a:avLst/>
          </a:prstGeom>
          <a:ln w="9525">
            <a:solidFill>
              <a:srgbClr val="D9DCE1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5029200" y="6080760"/>
            <a:ext cx="6629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Prediction through the Ingress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63946"/>
                </a:solidFill>
                <a:latin typeface="Calibri"/>
              </a:rPr>
              <a:t>TASK 8 · MONITORING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Calibri"/>
              </a:rPr>
              <a:t>Monitoring: logs, metrics,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Heart Disease Risk · End-to-End MLOps · AIMLCZG523 Assignment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56539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14 / 15</a:t>
            </a:r>
          </a:p>
        </p:txBody>
      </p:sp>
      <p:pic>
        <p:nvPicPr>
          <p:cNvPr id="7" name="Picture 6" descr="12_grafana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41" y="1371600"/>
            <a:ext cx="6678877" cy="3931920"/>
          </a:xfrm>
          <a:prstGeom prst="rect">
            <a:avLst/>
          </a:prstGeom>
          <a:ln w="9525">
            <a:solidFill>
              <a:srgbClr val="D9DCE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5349240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Grafana dashboard</a:t>
            </a:r>
          </a:p>
        </p:txBody>
      </p:sp>
      <p:pic>
        <p:nvPicPr>
          <p:cNvPr id="9" name="Picture 8" descr="13_api_json_lo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5133" y="1371600"/>
            <a:ext cx="3106454" cy="1828800"/>
          </a:xfrm>
          <a:prstGeom prst="rect">
            <a:avLst/>
          </a:prstGeom>
          <a:ln w="9525">
            <a:solidFill>
              <a:srgbClr val="D9DCE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7818120" y="32461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JSON request logs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3657600"/>
            <a:ext cx="384048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E63946"/>
                </a:solidFill>
                <a:latin typeface="Calibri"/>
              </a:rPr>
              <a:t>▸  </a:t>
            </a:r>
            <a:r>
              <a:rPr sz="1300" b="0">
                <a:solidFill>
                  <a:srgbClr val="222B38"/>
                </a:solidFill>
                <a:latin typeface="Calibri"/>
              </a:rPr>
              <a:t>Request rate, p95 latency, errors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63946"/>
                </a:solidFill>
                <a:latin typeface="Calibri"/>
              </a:rPr>
              <a:t>▸  </a:t>
            </a:r>
            <a:r>
              <a:rPr sz="1300" b="0">
                <a:solidFill>
                  <a:srgbClr val="222B38"/>
                </a:solidFill>
                <a:latin typeface="Calibri"/>
              </a:rPr>
              <a:t>Predictions per class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63946"/>
                </a:solidFill>
                <a:latin typeface="Calibri"/>
              </a:rPr>
              <a:t>▸  </a:t>
            </a:r>
            <a:r>
              <a:rPr sz="1300" b="1">
                <a:solidFill>
                  <a:srgbClr val="222B38"/>
                </a:solidFill>
                <a:latin typeface="Calibri"/>
              </a:rPr>
              <a:t>Mean P(disease)</a:t>
            </a:r>
            <a:r>
              <a:rPr sz="1300">
                <a:solidFill>
                  <a:srgbClr val="222B38"/>
                </a:solidFill>
                <a:latin typeface="Calibri"/>
              </a:rPr>
              <a:t> drift signal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63946"/>
                </a:solidFill>
                <a:latin typeface="Calibri"/>
              </a:rPr>
              <a:t>▸  </a:t>
            </a:r>
            <a:r>
              <a:rPr sz="1300" b="0">
                <a:solidFill>
                  <a:srgbClr val="222B38"/>
                </a:solidFill>
                <a:latin typeface="Calibri"/>
              </a:rPr>
              <a:t>Prometheus pod discovery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4A2A8"/>
                </a:solidFill>
                <a:latin typeface="Calibri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From raw CSV to a monitored API — fully automated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2560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0.905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9D3E6"/>
                </a:solidFill>
                <a:latin typeface="Calibri"/>
              </a:rPr>
              <a:t>CV ROC-AUC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377440"/>
            <a:ext cx="2560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96%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32004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9D3E6"/>
                </a:solidFill>
                <a:latin typeface="Calibri"/>
              </a:rPr>
              <a:t>hold-out recall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377440"/>
            <a:ext cx="2560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2004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9D3E6"/>
                </a:solidFill>
                <a:latin typeface="Calibri"/>
              </a:rPr>
              <a:t>unit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377440"/>
            <a:ext cx="2560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32004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9D3E6"/>
                </a:solidFill>
                <a:latin typeface="Calibri"/>
              </a:rPr>
              <a:t>CI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148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4A2A8"/>
                </a:solidFill>
                <a:latin typeface="Calibri"/>
              </a:rPr>
              <a:t>Next steps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805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C9D3E6"/>
                </a:solidFill>
                <a:latin typeface="Calibri"/>
              </a:rPr>
              <a:t>Probability calibration and a recall-oriented threshold · per-feature drift tests on logged inputs</a:t>
            </a:r>
          </a:p>
          <a:p>
            <a:pPr algn="l"/>
            <a:r>
              <a:rPr sz="1500" b="0">
                <a:solidFill>
                  <a:srgbClr val="C9D3E6"/>
                </a:solidFill>
                <a:latin typeface="Calibri"/>
              </a:rPr>
              <a:t>Remote MLflow server with model promotion · Helm chart with separate environments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https://github.com/TilakMtech/heart-mlops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