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4820"/>
  </p:normalViewPr>
  <p:slideViewPr>
    <p:cSldViewPr snapToGrid="0" snapToObjects="1">
      <p:cViewPr varScale="1">
        <p:scale>
          <a:sx n="88" d="100"/>
          <a:sy n="88" d="100"/>
        </p:scale>
        <p:origin x="11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CV ROC-AUC (5-fold)</c:v>
                </c:pt>
              </c:strCache>
            </c:strRef>
          </c:tx>
          <c:spPr>
            <a:solidFill>
              <a:srgbClr val="14213D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logreg_baseline</c:v>
                </c:pt>
                <c:pt idx="1">
                  <c:v>logreg</c:v>
                </c:pt>
                <c:pt idx="2">
                  <c:v>random_forest</c:v>
                </c:pt>
                <c:pt idx="3">
                  <c:v>gradient_boosting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0.90400000000000003</c:v>
                </c:pt>
                <c:pt idx="1">
                  <c:v>0.90500000000000003</c:v>
                </c:pt>
                <c:pt idx="2">
                  <c:v>0.89100000000000001</c:v>
                </c:pt>
                <c:pt idx="3">
                  <c:v>0.88300000000000001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A18-F24C-AB56-555600B6E7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Hold-out ROC-AUC</c:v>
                </c:pt>
              </c:strCache>
            </c:strRef>
          </c:tx>
          <c:spPr>
            <a:solidFill>
              <a:srgbClr val="2A9D8F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logreg_baseline</c:v>
                </c:pt>
                <c:pt idx="1">
                  <c:v>logreg</c:v>
                </c:pt>
                <c:pt idx="2">
                  <c:v>random_forest</c:v>
                </c:pt>
                <c:pt idx="3">
                  <c:v>gradient_boosting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0.96899999999999997</c:v>
                </c:pt>
                <c:pt idx="1">
                  <c:v>0.97</c:v>
                </c:pt>
                <c:pt idx="2">
                  <c:v>0.96499999999999997</c:v>
                </c:pt>
                <c:pt idx="3">
                  <c:v>0.95799999999999996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A18-F24C-AB56-555600B6E7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.8"/>
        </c:scaling>
        <c:delete val="0"/>
        <c:axPos val="l"/>
        <c:majorGridlines>
          <c:spPr>
            <a:ln>
              <a:solidFill>
                <a:srgbClr val="D9DCE1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391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Introduce the goal: a heart-disease classifier operated like a production model — everything from data download to monitoring is automated and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Map each assignment task to what was built; details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src/heart is the single implementation of cleaning, features and inference; notebooks, training CLI, tests and the API all import it. CI builds the image that Kubernetes runs; Prometheus scrapes the pods.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Demo: python scripts/download_data.py --force. Explain why imputation is not done in cleaning.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the other figures in reports/figures (histograms, boxplots).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src/heart/features.py. Point out the ablation model without engineered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Rule: highest mean 5-fold CV ROC-AUC on the training split; hold-out used only for reporting. Linear models beat tree ensembles on 303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Recall matters most clinically: missing a disease case is costly.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Demo: make mlflow → http://localhost:5000, open a child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Demo: run make lint test live in the terminal.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Quality gate: CV ROC-AUC ≥ 0.85. Artifacts: lint report, JUnit, coverage, model, MLflow store, container logs. Image pushed to GHCR on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Demo: make docker-build docker-run smoke.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Demo: kubectl -n heart-mlops get pods,svc,ingress,hpa; curl http://heart-api.local/health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Demo: python scripts/load_test.py --url http://heart-api.local, then show Grafana panels updating.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the audience, share the repo link,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1417320"/>
            <a:ext cx="109728" cy="192024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A2A8"/>
                </a:solidFill>
                <a:latin typeface="Calibri"/>
              </a:rPr>
              <a:t>MLOPS · ASSIGNMENT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Heart Disease Risk Prediction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End-to-End MLOps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C9D3E6"/>
                </a:solidFill>
                <a:latin typeface="Calibri"/>
              </a:rPr>
              <a:t>Data → Model → Tracking → CI/CD → Docker → Kubernetes →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463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9D3E6"/>
                </a:solidFill>
                <a:latin typeface="Calibri"/>
              </a:rPr>
              <a:t>Bala Gangadhara Tilak</a:t>
            </a:r>
          </a:p>
          <a:p>
            <a:pPr algn="l"/>
            <a:r>
              <a:rPr sz="1400" b="0">
                <a:solidFill>
                  <a:srgbClr val="C9D3E6"/>
                </a:solidFill>
                <a:latin typeface="Calibri"/>
              </a:rPr>
              <a:t>AIMLCZG523 Machine Learning Operations · BITS Pilani</a:t>
            </a:r>
          </a:p>
          <a:p>
            <a:pPr algn="l"/>
            <a:r>
              <a:rPr sz="1400" b="0">
                <a:solidFill>
                  <a:srgbClr val="C9D3E6"/>
                </a:solidFill>
                <a:latin typeface="Calibri"/>
              </a:rPr>
              <a:t>https://github.com/TilakMtech/heart-mlops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63946"/>
                </a:solidFill>
                <a:latin typeface="Calibr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Calibri"/>
              </a:rPr>
              <a:t>Nine assignment tasks, one reproducible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Heart Disease Risk · End-to-End MLOps · AIMLCZG523 Assignment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6539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566160" cy="132588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1719072"/>
            <a:ext cx="438912" cy="438912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916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Calibri"/>
              </a:rPr>
              <a:t>Data &amp; 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8483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download script, cleaning, 6 figures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566160" cy="132588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72000" y="1719072"/>
            <a:ext cx="438912" cy="438912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6916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Calibri"/>
              </a:rPr>
              <a:t>Features &amp;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08483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sklearn Pipeline, 4 tuned models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566160" cy="132588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66760" y="1719072"/>
            <a:ext cx="438912" cy="438912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6916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Calibri"/>
              </a:rPr>
              <a:t>Experiment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08483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MLflow runs, params, plots, registry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71800"/>
            <a:ext cx="3566160" cy="132588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77240" y="3227832"/>
            <a:ext cx="438912" cy="438912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2004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Calibri"/>
              </a:rPr>
              <a:t>Packaging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59359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model.joblib + meta, pinned deps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2971800"/>
            <a:ext cx="3566160" cy="132588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572000" y="3227832"/>
            <a:ext cx="438912" cy="438912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2004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Calibri"/>
              </a:rPr>
              <a:t>CI/CD &amp;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359359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GitHub Actions, 37 pytest tests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2971800"/>
            <a:ext cx="3566160" cy="132588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366760" y="3227832"/>
            <a:ext cx="438912" cy="438912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2004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Calibri"/>
              </a:rPr>
              <a:t>Containerisation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59359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FastAPI /predict in Docker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480560"/>
            <a:ext cx="3566160" cy="132588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77240" y="4736592"/>
            <a:ext cx="438912" cy="438912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7091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Calibri"/>
              </a:rPr>
              <a:t>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10235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Minikube: Deployment, LB, Ingress, HPA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4480560"/>
            <a:ext cx="3566160" cy="132588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572000" y="4736592"/>
            <a:ext cx="438912" cy="438912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47091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Calibri"/>
              </a:rPr>
              <a:t>Monitoring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60" y="510235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JSON logs, Prometheus, Grafana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4480560"/>
            <a:ext cx="3566160" cy="132588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366760" y="4736592"/>
            <a:ext cx="438912" cy="438912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47091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Calibri"/>
              </a:rPr>
              <a:t>Documentation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510235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report, README,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63946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Calibri"/>
              </a:rPr>
              <a:t>Architecture: one package used by every stage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Heart Disease Risk · End-to-End MLOps · AIMLCZG523 Assignment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6539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 / 15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88" y="1325880"/>
            <a:ext cx="10899544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63946"/>
                </a:solidFill>
                <a:latin typeface="Calibri"/>
              </a:rPr>
              <a:t>TASK 1 · DATA ACQUISITION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Calibri"/>
              </a:rPr>
              <a:t>Data: 303 Cleveland patients, nearly balanced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Heart Disease Risk · End-to-End MLOps · AIMLCZG523 Assignment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6539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4213D"/>
                </a:solidFill>
                <a:latin typeface="Calibri"/>
              </a:rPr>
              <a:t>303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patients (UCI Cleveland)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46304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E63946"/>
                </a:solidFill>
                <a:latin typeface="Calibri"/>
              </a:rPr>
              <a:t>46%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7627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have heart disease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4213D"/>
                </a:solidFill>
                <a:latin typeface="Calibri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5643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input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74320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2A9D8F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45643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missing values (ca, thal)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9377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E63946"/>
                </a:solidFill>
                <a:latin typeface="Calibri"/>
              </a:rPr>
              <a:t>▸  </a:t>
            </a:r>
            <a:r>
              <a:rPr sz="1400" b="1">
                <a:solidFill>
                  <a:srgbClr val="222B38"/>
                </a:solidFill>
                <a:latin typeface="Calibri"/>
              </a:rPr>
              <a:t>Download script</a:t>
            </a:r>
            <a:r>
              <a:rPr sz="1400">
                <a:solidFill>
                  <a:srgbClr val="222B38"/>
                </a:solidFill>
                <a:latin typeface="Calibri"/>
              </a:rPr>
              <a:t> UCI first, GitHub mirror fallback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E63946"/>
                </a:solidFill>
                <a:latin typeface="Calibri"/>
              </a:rPr>
              <a:t>▸  </a:t>
            </a:r>
            <a:r>
              <a:rPr sz="1400" b="1">
                <a:solidFill>
                  <a:srgbClr val="222B38"/>
                </a:solidFill>
                <a:latin typeface="Calibri"/>
              </a:rPr>
              <a:t>Stateless cleaning</a:t>
            </a:r>
            <a:r>
              <a:rPr sz="1400">
                <a:solidFill>
                  <a:srgbClr val="222B38"/>
                </a:solidFill>
                <a:latin typeface="Calibri"/>
              </a:rPr>
              <a:t> '?' → NaN, target num&gt;0 → 1, range checks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E63946"/>
                </a:solidFill>
                <a:latin typeface="Calibri"/>
              </a:rPr>
              <a:t>▸  </a:t>
            </a:r>
            <a:r>
              <a:rPr sz="1400" b="1">
                <a:solidFill>
                  <a:srgbClr val="222B38"/>
                </a:solidFill>
                <a:latin typeface="Calibri"/>
              </a:rPr>
              <a:t>Imputation inside the pipeline</a:t>
            </a:r>
            <a:r>
              <a:rPr sz="1400">
                <a:solidFill>
                  <a:srgbClr val="222B38"/>
                </a:solidFill>
                <a:latin typeface="Calibri"/>
              </a:rPr>
              <a:t> no leakage, same at serving</a:t>
            </a:r>
          </a:p>
        </p:txBody>
      </p:sp>
      <p:pic>
        <p:nvPicPr>
          <p:cNvPr id="16" name="Picture 15" descr="01_class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63624"/>
            <a:ext cx="5577840" cy="4462272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63946"/>
                </a:solidFill>
                <a:latin typeface="Calibri"/>
              </a:rPr>
              <a:t>TASK 1 ·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Calibri"/>
              </a:rPr>
              <a:t>EDA: chest pain, thal and vessels carry the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Heart Disease Risk · End-to-End MLOps · AIMLCZG523 Assignment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6539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 / 15</a:t>
            </a:r>
          </a:p>
        </p:txBody>
      </p:sp>
      <p:pic>
        <p:nvPicPr>
          <p:cNvPr id="7" name="Picture 6" descr="03_categorical_disease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00175"/>
            <a:ext cx="6766560" cy="2960370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pic>
        <p:nvPicPr>
          <p:cNvPr id="8" name="Picture 7" descr="04_correlati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545336"/>
            <a:ext cx="4023360" cy="3218688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4617720"/>
            <a:ext cx="67665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E63946"/>
                </a:solidFill>
                <a:latin typeface="Calibri"/>
              </a:rPr>
              <a:t>▸  </a:t>
            </a:r>
            <a:r>
              <a:rPr sz="1300" b="1">
                <a:solidFill>
                  <a:srgbClr val="222B38"/>
                </a:solidFill>
                <a:latin typeface="Calibri"/>
              </a:rPr>
              <a:t>Strongest correlations with target:</a:t>
            </a:r>
            <a:r>
              <a:rPr sz="1300">
                <a:solidFill>
                  <a:srgbClr val="222B38"/>
                </a:solidFill>
                <a:latin typeface="Calibri"/>
              </a:rPr>
              <a:t>  thal 0.53, ca 0.46, exang 0.43, oldpeak 0.42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63946"/>
                </a:solidFill>
                <a:latin typeface="Calibri"/>
              </a:rPr>
              <a:t>▸  </a:t>
            </a:r>
            <a:r>
              <a:rPr sz="1300" b="1">
                <a:solidFill>
                  <a:srgbClr val="222B38"/>
                </a:solidFill>
                <a:latin typeface="Calibri"/>
              </a:rPr>
              <a:t>Asymptomatic chest pain (cp=4) and reversible defect (thal=7)</a:t>
            </a:r>
            <a:r>
              <a:rPr sz="1300">
                <a:solidFill>
                  <a:srgbClr val="222B38"/>
                </a:solidFill>
                <a:latin typeface="Calibri"/>
              </a:rPr>
              <a:t>  → disease rate above 70 %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63946"/>
                </a:solidFill>
                <a:latin typeface="Calibri"/>
              </a:rPr>
              <a:t>▸  </a:t>
            </a:r>
            <a:r>
              <a:rPr sz="1300" b="1">
                <a:solidFill>
                  <a:srgbClr val="222B38"/>
                </a:solidFill>
                <a:latin typeface="Calibri"/>
              </a:rPr>
              <a:t>chol, trestbps</a:t>
            </a:r>
            <a:r>
              <a:rPr sz="1300">
                <a:solidFill>
                  <a:srgbClr val="222B38"/>
                </a:solidFill>
                <a:latin typeface="Calibri"/>
              </a:rPr>
              <a:t>  overlap heavily between classes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63946"/>
                </a:solidFill>
                <a:latin typeface="Calibri"/>
              </a:rPr>
              <a:t>TASK 2 ·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Calibri"/>
              </a:rPr>
              <a:t>Feature engineering lives inside the model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Heart Disease Risk · End-to-End MLOps · AIMLCZG523 Assignment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6539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468880" cy="1143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HeartFeatureBuilder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C9D3E6"/>
                </a:solidFill>
                <a:latin typeface="Calibri"/>
              </a:rPr>
              <a:t>derived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993392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E63946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1568" y="1645920"/>
            <a:ext cx="2468880" cy="1143000"/>
          </a:xfrm>
          <a:prstGeom prst="rect">
            <a:avLst/>
          </a:prstGeom>
          <a:solidFill>
            <a:srgbClr val="1F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01568" y="184708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2860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C9D3E6"/>
                </a:solidFill>
                <a:latin typeface="Calibri"/>
              </a:rPr>
              <a:t>median /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1993392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E63946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1645920"/>
            <a:ext cx="2468880" cy="1143000"/>
          </a:xfrm>
          <a:prstGeom prst="rect">
            <a:avLst/>
          </a:prstGeom>
          <a:solidFill>
            <a:srgbClr val="1F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54496" y="184708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Scale + One-hot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2860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C9D3E6"/>
                </a:solidFill>
                <a:latin typeface="Calibri"/>
              </a:rPr>
              <a:t>ColumnTransformer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3376" y="1993392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E63946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07424" y="1645920"/>
            <a:ext cx="2468880" cy="1143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07424" y="184708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Classifier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2860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C9D3E6"/>
                </a:solidFill>
                <a:latin typeface="Calibri"/>
              </a:rPr>
              <a:t>tuned estimator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46120"/>
            <a:ext cx="56692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E63946"/>
                </a:solidFill>
                <a:latin typeface="Calibri"/>
              </a:rPr>
              <a:t>▸  </a:t>
            </a:r>
            <a:r>
              <a:rPr sz="1400" b="1">
                <a:solidFill>
                  <a:srgbClr val="222B38"/>
                </a:solidFill>
                <a:latin typeface="Calibri"/>
              </a:rPr>
              <a:t>hr_reserve_pct</a:t>
            </a:r>
            <a:r>
              <a:rPr sz="1400">
                <a:solidFill>
                  <a:srgbClr val="222B38"/>
                </a:solidFill>
                <a:latin typeface="Calibri"/>
              </a:rPr>
              <a:t> thalach / (220 − age)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E63946"/>
                </a:solidFill>
                <a:latin typeface="Calibri"/>
              </a:rPr>
              <a:t>▸  </a:t>
            </a:r>
            <a:r>
              <a:rPr sz="1400" b="1">
                <a:solidFill>
                  <a:srgbClr val="222B38"/>
                </a:solidFill>
                <a:latin typeface="Calibri"/>
              </a:rPr>
              <a:t>chol_per_age</a:t>
            </a:r>
            <a:r>
              <a:rPr sz="1400">
                <a:solidFill>
                  <a:srgbClr val="222B38"/>
                </a:solidFill>
                <a:latin typeface="Calibri"/>
              </a:rPr>
              <a:t> cholesterol load relative to age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E63946"/>
                </a:solidFill>
                <a:latin typeface="Calibri"/>
              </a:rPr>
              <a:t>▸  </a:t>
            </a:r>
            <a:r>
              <a:rPr sz="1400" b="1">
                <a:solidFill>
                  <a:srgbClr val="222B38"/>
                </a:solidFill>
                <a:latin typeface="Calibri"/>
              </a:rPr>
              <a:t>st_risk_flag</a:t>
            </a:r>
            <a:r>
              <a:rPr sz="1400">
                <a:solidFill>
                  <a:srgbClr val="222B38"/>
                </a:solidFill>
                <a:latin typeface="Calibri"/>
              </a:rPr>
              <a:t> oldpeak ≥ 2 or exercise angina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E63946"/>
                </a:solidFill>
                <a:latin typeface="Calibri"/>
              </a:rPr>
              <a:t>▸  </a:t>
            </a:r>
            <a:r>
              <a:rPr sz="1400" b="1">
                <a:solidFill>
                  <a:srgbClr val="222B38"/>
                </a:solidFill>
                <a:latin typeface="Calibri"/>
              </a:rPr>
              <a:t>One object saved</a:t>
            </a:r>
            <a:r>
              <a:rPr sz="1400">
                <a:solidFill>
                  <a:srgbClr val="222B38"/>
                </a:solidFill>
                <a:latin typeface="Calibri"/>
              </a:rPr>
              <a:t> training and API apply identical transforms</a:t>
            </a:r>
          </a:p>
        </p:txBody>
      </p:sp>
      <p:pic>
        <p:nvPicPr>
          <p:cNvPr id="23" name="Picture 22" descr="logreg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3108960"/>
            <a:ext cx="4352544" cy="3108960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63946"/>
                </a:solidFill>
                <a:latin typeface="Calibri"/>
              </a:rPr>
              <a:t>TASK 2 · 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Calibri"/>
              </a:rPr>
              <a:t>logreg wins on cross-validated ROC-AUC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Heart Disease Risk · End-to-End MLOps · AIMLCZG523 Assignment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6539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 / 15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371600"/>
          <a:ext cx="73152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0" y="1463040"/>
            <a:ext cx="3429000" cy="466344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0" y="16916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63946"/>
                </a:solidFill>
                <a:latin typeface="Calibri"/>
              </a:rPr>
              <a:t>SELECTED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659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Calibri"/>
              </a:rPr>
              <a:t>logreg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4688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C=0.3, class_weight=balanced, penalty=l1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15468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4213D"/>
                </a:solidFill>
                <a:latin typeface="Calibri"/>
              </a:rPr>
              <a:t>0.905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86791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CV ROC-AUC  (± 0.013)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38912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E63946"/>
                </a:solidFill>
                <a:latin typeface="Calibri"/>
              </a:rPr>
              <a:t>96%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10235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hold-out recall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63946"/>
                </a:solidFill>
                <a:latin typeface="Calibri"/>
              </a:rPr>
              <a:t>TASK 2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Calibri"/>
              </a:rPr>
              <a:t>Selected model on the hold-out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Heart Disease Risk · End-to-End MLOps · AIMLCZG523 Assignment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6539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 / 15</a:t>
            </a:r>
          </a:p>
        </p:txBody>
      </p:sp>
      <p:pic>
        <p:nvPicPr>
          <p:cNvPr id="7" name="Picture 6" descr="logreg_eval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64195"/>
            <a:ext cx="11064240" cy="3180969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22960" y="5074920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4213D"/>
                </a:solidFill>
                <a:latin typeface="Calibri"/>
              </a:rPr>
              <a:t>86.9%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88152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074920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4213D"/>
                </a:solidFill>
                <a:latin typeface="Calibri"/>
              </a:rPr>
              <a:t>79.4%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788152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074920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E63946"/>
                </a:solidFill>
                <a:latin typeface="Calibri"/>
              </a:rPr>
              <a:t>96.4%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788152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5074920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4213D"/>
                </a:solidFill>
                <a:latin typeface="Calibri"/>
              </a:rPr>
              <a:t>0.970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5788152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ROC-AUC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63946"/>
                </a:solidFill>
                <a:latin typeface="Calibri"/>
              </a:rPr>
              <a:t>TASK 3 · EXPERIMENT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Calibri"/>
              </a:rPr>
              <a:t>Every run tracked in MLflow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Heart Disease Risk · End-to-End MLOps · AIMLCZG523 Assignment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6539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 / 15</a:t>
            </a:r>
          </a:p>
        </p:txBody>
      </p:sp>
      <p:pic>
        <p:nvPicPr>
          <p:cNvPr id="7" name="Picture 6" descr="01_mlflow_experi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02572"/>
            <a:ext cx="5486400" cy="3229896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Parent + nested runs</a:t>
            </a:r>
          </a:p>
        </p:txBody>
      </p:sp>
      <p:pic>
        <p:nvPicPr>
          <p:cNvPr id="9" name="Picture 8" descr="02_mlflow_run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02572"/>
            <a:ext cx="5486400" cy="3229896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72200" y="47091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Run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E63946"/>
                </a:solidFill>
                <a:latin typeface="Calibri"/>
              </a:rPr>
              <a:t>▸  </a:t>
            </a:r>
            <a:r>
              <a:rPr sz="1300" b="1">
                <a:solidFill>
                  <a:srgbClr val="222B38"/>
                </a:solidFill>
                <a:latin typeface="Calibri"/>
              </a:rPr>
              <a:t>Params</a:t>
            </a:r>
            <a:r>
              <a:rPr sz="1300">
                <a:solidFill>
                  <a:srgbClr val="222B38"/>
                </a:solidFill>
                <a:latin typeface="Calibri"/>
              </a:rPr>
              <a:t> best hyper-parameters, grid size, feature set    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63946"/>
                </a:solidFill>
                <a:latin typeface="Calibri"/>
              </a:rPr>
              <a:t>▸  </a:t>
            </a:r>
            <a:r>
              <a:rPr sz="1300" b="1">
                <a:solidFill>
                  <a:srgbClr val="222B38"/>
                </a:solidFill>
                <a:latin typeface="Calibri"/>
              </a:rPr>
              <a:t>Metrics</a:t>
            </a:r>
            <a:r>
              <a:rPr sz="1300">
                <a:solidFill>
                  <a:srgbClr val="222B38"/>
                </a:solidFill>
                <a:latin typeface="Calibri"/>
              </a:rPr>
              <a:t> CV mean ± std for 5 metrics, hold-out metrics    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63946"/>
                </a:solidFill>
                <a:latin typeface="Calibri"/>
              </a:rPr>
              <a:t>▸  </a:t>
            </a:r>
            <a:r>
              <a:rPr sz="1300" b="1">
                <a:solidFill>
                  <a:srgbClr val="222B38"/>
                </a:solidFill>
                <a:latin typeface="Calibri"/>
              </a:rPr>
              <a:t>Artifacts</a:t>
            </a:r>
            <a:r>
              <a:rPr sz="1300">
                <a:solidFill>
                  <a:srgbClr val="222B38"/>
                </a:solidFill>
                <a:latin typeface="Calibri"/>
              </a:rPr>
              <a:t> plots, grid results, model with signature, registry entry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63946"/>
                </a:solidFill>
                <a:latin typeface="Calibri"/>
              </a:rPr>
              <a:t>TASKS 4–5 · PACKAGING &amp;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Calibri"/>
              </a:rPr>
              <a:t>Reproducible packaging and automated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Heart Disease Risk · End-to-End MLOps · AIMLCZG523 Assignment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6539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486400" cy="20261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dirty="0">
                <a:solidFill>
                  <a:srgbClr val="E63946"/>
                </a:solidFill>
                <a:latin typeface="Calibri"/>
              </a:rPr>
              <a:t>▸  </a:t>
            </a:r>
            <a:r>
              <a:rPr sz="1500" b="1" dirty="0">
                <a:solidFill>
                  <a:srgbClr val="222B38"/>
                </a:solidFill>
                <a:latin typeface="Calibri"/>
              </a:rPr>
              <a:t>models/</a:t>
            </a:r>
            <a:r>
              <a:rPr sz="1500" b="1" dirty="0" err="1">
                <a:solidFill>
                  <a:srgbClr val="222B38"/>
                </a:solidFill>
                <a:latin typeface="Calibri"/>
              </a:rPr>
              <a:t>model.joblib</a:t>
            </a:r>
            <a:r>
              <a:rPr sz="1500" dirty="0">
                <a:solidFill>
                  <a:srgbClr val="222B38"/>
                </a:solidFill>
                <a:latin typeface="Calibri"/>
              </a:rPr>
              <a:t> whole pipeline in one object</a:t>
            </a:r>
          </a:p>
          <a:p>
            <a:pPr>
              <a:spcAft>
                <a:spcPts val="1000"/>
              </a:spcAft>
            </a:pPr>
            <a:r>
              <a:rPr sz="1500" dirty="0">
                <a:solidFill>
                  <a:srgbClr val="E63946"/>
                </a:solidFill>
                <a:latin typeface="Calibri"/>
              </a:rPr>
              <a:t>▸  </a:t>
            </a:r>
            <a:r>
              <a:rPr sz="1500" b="1" dirty="0" err="1">
                <a:solidFill>
                  <a:srgbClr val="222B38"/>
                </a:solidFill>
                <a:latin typeface="Calibri"/>
              </a:rPr>
              <a:t>model_meta.json</a:t>
            </a:r>
            <a:r>
              <a:rPr sz="1500" dirty="0">
                <a:solidFill>
                  <a:srgbClr val="222B38"/>
                </a:solidFill>
                <a:latin typeface="Calibri"/>
              </a:rPr>
              <a:t> version, run IDs, params, metrics, feature order</a:t>
            </a:r>
          </a:p>
          <a:p>
            <a:pPr>
              <a:spcAft>
                <a:spcPts val="1000"/>
              </a:spcAft>
            </a:pPr>
            <a:r>
              <a:rPr sz="1500" dirty="0">
                <a:solidFill>
                  <a:srgbClr val="E63946"/>
                </a:solidFill>
                <a:latin typeface="Calibri"/>
              </a:rPr>
              <a:t>▸  </a:t>
            </a:r>
            <a:r>
              <a:rPr sz="1500" b="1" dirty="0">
                <a:solidFill>
                  <a:srgbClr val="222B38"/>
                </a:solidFill>
                <a:latin typeface="Calibri"/>
              </a:rPr>
              <a:t>3-layer requirements</a:t>
            </a:r>
            <a:r>
              <a:rPr sz="1500" dirty="0">
                <a:solidFill>
                  <a:srgbClr val="222B38"/>
                </a:solidFill>
                <a:latin typeface="Calibri"/>
              </a:rPr>
              <a:t> serve · train · dev, all pinned</a:t>
            </a:r>
          </a:p>
          <a:p>
            <a:pPr>
              <a:spcAft>
                <a:spcPts val="1000"/>
              </a:spcAft>
            </a:pPr>
            <a:r>
              <a:rPr sz="1500" dirty="0">
                <a:solidFill>
                  <a:srgbClr val="E63946"/>
                </a:solidFill>
                <a:latin typeface="Calibri"/>
              </a:rPr>
              <a:t>▸  </a:t>
            </a:r>
            <a:r>
              <a:rPr sz="1500" b="1" dirty="0">
                <a:solidFill>
                  <a:srgbClr val="222B38"/>
                </a:solidFill>
                <a:latin typeface="Calibri"/>
              </a:rPr>
              <a:t>Fixed seeds</a:t>
            </a:r>
            <a:r>
              <a:rPr sz="1500" dirty="0">
                <a:solidFill>
                  <a:srgbClr val="222B38"/>
                </a:solidFill>
                <a:latin typeface="Calibri"/>
              </a:rPr>
              <a:t> RANDOM_STATE = 42 everywhere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63946"/>
                </a:solidFill>
                <a:latin typeface="Calibri"/>
              </a:rPr>
              <a:t>▸  </a:t>
            </a:r>
            <a:r>
              <a:rPr lang="en-US" sz="1500" b="1">
                <a:solidFill>
                  <a:srgbClr val="222B38"/>
                </a:solidFill>
                <a:latin typeface="Calibri"/>
              </a:rPr>
              <a:t>48</a:t>
            </a:r>
            <a:r>
              <a:rPr sz="1500" b="1">
                <a:solidFill>
                  <a:srgbClr val="222B38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222B38"/>
                </a:solidFill>
                <a:latin typeface="Calibri"/>
              </a:rPr>
              <a:t>pytest</a:t>
            </a:r>
            <a:r>
              <a:rPr sz="1500" b="1" dirty="0">
                <a:solidFill>
                  <a:srgbClr val="222B38"/>
                </a:solidFill>
                <a:latin typeface="Calibri"/>
              </a:rPr>
              <a:t> tests</a:t>
            </a:r>
            <a:r>
              <a:rPr sz="1500" dirty="0">
                <a:solidFill>
                  <a:srgbClr val="222B38"/>
                </a:solidFill>
                <a:latin typeface="Calibri"/>
              </a:rPr>
              <a:t> data, features, model, API — no network needed</a:t>
            </a:r>
          </a:p>
          <a:p>
            <a:pPr>
              <a:spcAft>
                <a:spcPts val="1000"/>
              </a:spcAft>
            </a:pPr>
            <a:r>
              <a:rPr sz="1500" dirty="0">
                <a:solidFill>
                  <a:srgbClr val="E63946"/>
                </a:solidFill>
                <a:latin typeface="Calibri"/>
              </a:rPr>
              <a:t>▸  </a:t>
            </a:r>
            <a:r>
              <a:rPr sz="1500" b="1" dirty="0">
                <a:solidFill>
                  <a:srgbClr val="222B38"/>
                </a:solidFill>
                <a:latin typeface="Calibri"/>
              </a:rPr>
              <a:t>Make targets</a:t>
            </a:r>
            <a:r>
              <a:rPr sz="1500" dirty="0">
                <a:solidFill>
                  <a:srgbClr val="222B38"/>
                </a:solidFill>
                <a:latin typeface="Calibri"/>
              </a:rPr>
              <a:t> make data · train · test · lint · docker-build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257800" cy="46634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691640"/>
            <a:ext cx="4754880" cy="32316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>
                <a:solidFill>
                  <a:srgbClr val="C9D3E6"/>
                </a:solidFill>
                <a:latin typeface="Calibri"/>
              </a:rPr>
              <a:t>$ make lint</a:t>
            </a:r>
          </a:p>
          <a:p>
            <a:pPr algn="l"/>
            <a:r>
              <a:rPr sz="1500" b="0" dirty="0">
                <a:solidFill>
                  <a:srgbClr val="C9D3E6"/>
                </a:solidFill>
                <a:latin typeface="Calibri"/>
              </a:rPr>
              <a:t>python -m flake8</a:t>
            </a:r>
          </a:p>
          <a:p>
            <a:pPr algn="l"/>
            <a:endParaRPr sz="1500" b="0" dirty="0">
              <a:solidFill>
                <a:srgbClr val="C9D3E6"/>
              </a:solidFill>
              <a:latin typeface="Calibri"/>
            </a:endParaRPr>
          </a:p>
          <a:p>
            <a:pPr algn="l"/>
            <a:r>
              <a:rPr sz="1500" b="0" dirty="0">
                <a:solidFill>
                  <a:srgbClr val="C9D3E6"/>
                </a:solidFill>
                <a:latin typeface="Calibri"/>
              </a:rPr>
              <a:t>$ make test</a:t>
            </a:r>
          </a:p>
          <a:p>
            <a:pPr algn="l"/>
            <a:r>
              <a:rPr lang="en-US" sz="1500" b="0" dirty="0">
                <a:solidFill>
                  <a:srgbClr val="C9D3E6"/>
                </a:solidFill>
                <a:latin typeface="Calibri"/>
              </a:rPr>
              <a:t>48</a:t>
            </a:r>
            <a:r>
              <a:rPr sz="1500" b="0" dirty="0">
                <a:solidFill>
                  <a:srgbClr val="C9D3E6"/>
                </a:solidFill>
                <a:latin typeface="Calibri"/>
              </a:rPr>
              <a:t> passed</a:t>
            </a:r>
          </a:p>
          <a:p>
            <a:pPr algn="l"/>
            <a:endParaRPr sz="1500" b="0" dirty="0">
              <a:solidFill>
                <a:srgbClr val="C9D3E6"/>
              </a:solidFill>
              <a:latin typeface="Calibri"/>
            </a:endParaRPr>
          </a:p>
          <a:p>
            <a:pPr algn="l"/>
            <a:r>
              <a:rPr sz="1500" b="0" dirty="0">
                <a:solidFill>
                  <a:srgbClr val="C9D3E6"/>
                </a:solidFill>
                <a:latin typeface="Calibri"/>
              </a:rPr>
              <a:t>$ make train</a:t>
            </a:r>
          </a:p>
          <a:p>
            <a:pPr algn="l"/>
            <a:r>
              <a:rPr sz="1500" b="0" dirty="0">
                <a:solidFill>
                  <a:srgbClr val="C9D3E6"/>
                </a:solidFill>
                <a:latin typeface="Calibri"/>
              </a:rPr>
              <a:t>Selected </a:t>
            </a:r>
            <a:r>
              <a:rPr sz="1500" b="0" dirty="0" err="1">
                <a:solidFill>
                  <a:srgbClr val="C9D3E6"/>
                </a:solidFill>
                <a:latin typeface="Calibri"/>
              </a:rPr>
              <a:t>logreg</a:t>
            </a:r>
            <a:r>
              <a:rPr sz="1500" b="0" dirty="0">
                <a:solidFill>
                  <a:srgbClr val="C9D3E6"/>
                </a:solidFill>
                <a:latin typeface="Calibri"/>
              </a:rPr>
              <a:t> -&gt; models/</a:t>
            </a:r>
            <a:r>
              <a:rPr sz="1500" b="0" dirty="0" err="1">
                <a:solidFill>
                  <a:srgbClr val="C9D3E6"/>
                </a:solidFill>
                <a:latin typeface="Calibri"/>
              </a:rPr>
              <a:t>model.joblib</a:t>
            </a:r>
            <a:endParaRPr sz="1500" b="0" dirty="0">
              <a:solidFill>
                <a:srgbClr val="C9D3E6"/>
              </a:solidFill>
              <a:latin typeface="Calibri"/>
            </a:endParaRPr>
          </a:p>
          <a:p>
            <a:pPr algn="l"/>
            <a:endParaRPr sz="1500" b="0" dirty="0">
              <a:solidFill>
                <a:srgbClr val="C9D3E6"/>
              </a:solidFill>
              <a:latin typeface="Calibri"/>
            </a:endParaRPr>
          </a:p>
          <a:p>
            <a:pPr algn="l"/>
            <a:r>
              <a:rPr sz="1500" b="0" dirty="0">
                <a:solidFill>
                  <a:srgbClr val="C9D3E6"/>
                </a:solidFill>
                <a:latin typeface="Calibri"/>
              </a:rPr>
              <a:t>$ make docker-build docker-run smoke</a:t>
            </a:r>
          </a:p>
          <a:p>
            <a:pPr algn="l"/>
            <a:r>
              <a:rPr sz="1500" b="0" dirty="0">
                <a:solidFill>
                  <a:srgbClr val="C9D3E6"/>
                </a:solidFill>
                <a:latin typeface="Calibri"/>
              </a:rPr>
              <a:t>SMOKE TEST PASSED</a:t>
            </a:r>
          </a:p>
          <a:p>
            <a:pPr algn="l"/>
            <a:endParaRPr sz="1500" b="0" dirty="0">
              <a:solidFill>
                <a:srgbClr val="C9D3E6"/>
              </a:solidFill>
              <a:latin typeface="Calibri"/>
            </a:endParaRPr>
          </a:p>
          <a:p>
            <a:pPr algn="l"/>
            <a:r>
              <a:rPr sz="1500" b="0" dirty="0">
                <a:solidFill>
                  <a:srgbClr val="C9D3E6"/>
                </a:solidFill>
                <a:latin typeface="Calibri"/>
              </a:rPr>
              <a:t>$ ./scripts/</a:t>
            </a:r>
            <a:r>
              <a:rPr sz="1500" b="0" dirty="0" err="1">
                <a:solidFill>
                  <a:srgbClr val="C9D3E6"/>
                </a:solidFill>
                <a:latin typeface="Calibri"/>
              </a:rPr>
              <a:t>deploy_minikube.sh</a:t>
            </a:r>
            <a:endParaRPr sz="1500" b="0" dirty="0">
              <a:solidFill>
                <a:srgbClr val="C9D3E6"/>
              </a:solidFill>
              <a:latin typeface="Calibri"/>
            </a:endParaRPr>
          </a:p>
          <a:p>
            <a:pPr algn="l"/>
            <a:r>
              <a:rPr sz="1500" b="0" dirty="0">
                <a:solidFill>
                  <a:srgbClr val="C9D3E6"/>
                </a:solidFill>
                <a:latin typeface="Calibri"/>
              </a:rPr>
              <a:t>deployment "heart-</a:t>
            </a:r>
            <a:r>
              <a:rPr sz="1500" b="0" dirty="0" err="1">
                <a:solidFill>
                  <a:srgbClr val="C9D3E6"/>
                </a:solidFill>
                <a:latin typeface="Calibri"/>
              </a:rPr>
              <a:t>api</a:t>
            </a:r>
            <a:r>
              <a:rPr sz="1500" b="0" dirty="0">
                <a:solidFill>
                  <a:srgbClr val="C9D3E6"/>
                </a:solidFill>
                <a:latin typeface="Calibri"/>
              </a:rPr>
              <a:t>" successfully rolled 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63946"/>
                </a:solidFill>
                <a:latin typeface="Calibri"/>
              </a:rPr>
              <a:t>TASK 5 ·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Calibri"/>
              </a:rPr>
              <a:t>GitHub Actions gates every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Heart Disease Risk · End-to-End MLOps · AIMLCZG523 Assignment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6539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057400" cy="64008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1417320"/>
            <a:ext cx="2057400" cy="64008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07208" y="141732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k8s-validate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5776" y="1417320"/>
            <a:ext cx="2057400" cy="64008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65776" y="141732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4344" y="1417320"/>
            <a:ext cx="2057400" cy="64008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24344" y="141732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train +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82912" y="1417320"/>
            <a:ext cx="2057400" cy="640080"/>
          </a:xfrm>
          <a:prstGeom prst="round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82912" y="141732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pic>
        <p:nvPicPr>
          <p:cNvPr id="17" name="Picture 16" descr="04_github_actions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059" y="2331720"/>
            <a:ext cx="5824602" cy="3429000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48640" y="580644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Green run on main</a:t>
            </a:r>
          </a:p>
        </p:txBody>
      </p:sp>
      <p:pic>
        <p:nvPicPr>
          <p:cNvPr id="19" name="Picture 18" descr="06_github_actions_fail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2888840"/>
            <a:ext cx="3931920" cy="2314759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7726679" y="58064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Lint error stops the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63946"/>
                </a:solidFill>
                <a:latin typeface="Calibri"/>
              </a:rPr>
              <a:t>TASK 6 · CONTAINERISATION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Calibri"/>
              </a:rPr>
              <a:t>FastAPI service in a slim, non-root container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Heart Disease Risk · End-to-End MLOps · AIMLCZG523 Assignment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6539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5120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Returns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Calibri"/>
                        </a:rPr>
                        <a:t>POST /predict</a:t>
                      </a:r>
                    </a:p>
                  </a:txBody>
                  <a:tcPr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prediction, confidence, risk band</a:t>
                      </a:r>
                    </a:p>
                  </a:txBody>
                  <a:tcPr>
                    <a:solidFill>
                      <a:srgbClr val="F6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Calibri"/>
                        </a:rPr>
                        <a:t>POST /predict/batch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up to 500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Calibri"/>
                        </a:rPr>
                        <a:t>GET /health</a:t>
                      </a:r>
                    </a:p>
                  </a:txBody>
                  <a:tcPr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200 when model loaded</a:t>
                      </a:r>
                    </a:p>
                  </a:txBody>
                  <a:tcPr>
                    <a:solidFill>
                      <a:srgbClr val="F6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Calibri"/>
                        </a:rPr>
                        <a:t>GET /metrics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Prometheus 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Calibri"/>
                        </a:rPr>
                        <a:t>GET /docs</a:t>
                      </a:r>
                    </a:p>
                  </a:txBody>
                  <a:tcPr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Swagger UI</a:t>
                      </a:r>
                    </a:p>
                  </a:txBody>
                  <a:tcPr>
                    <a:solidFill>
                      <a:srgbClr val="F6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26280"/>
            <a:ext cx="51206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63946"/>
                </a:solidFill>
                <a:latin typeface="Calibri"/>
              </a:rPr>
              <a:t>▸  </a:t>
            </a:r>
            <a:r>
              <a:rPr sz="1300" b="1">
                <a:solidFill>
                  <a:srgbClr val="222B38"/>
                </a:solidFill>
                <a:latin typeface="Calibri"/>
              </a:rPr>
              <a:t>python:3.11-slim</a:t>
            </a:r>
            <a:r>
              <a:rPr sz="1300">
                <a:solidFill>
                  <a:srgbClr val="222B38"/>
                </a:solidFill>
                <a:latin typeface="Calibri"/>
              </a:rPr>
              <a:t> serving deps only, UID 1001, HEALTHCHECK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63946"/>
                </a:solidFill>
                <a:latin typeface="Calibri"/>
              </a:rPr>
              <a:t>▸  </a:t>
            </a:r>
            <a:r>
              <a:rPr sz="1300" b="1">
                <a:solidFill>
                  <a:srgbClr val="222B38"/>
                </a:solidFill>
                <a:latin typeface="Calibri"/>
              </a:rPr>
              <a:t>Pydantic validation</a:t>
            </a:r>
            <a:r>
              <a:rPr sz="1300">
                <a:solidFill>
                  <a:srgbClr val="222B38"/>
                </a:solidFill>
                <a:latin typeface="Calibri"/>
              </a:rPr>
              <a:t> bad input → 422</a:t>
            </a:r>
          </a:p>
        </p:txBody>
      </p:sp>
      <p:pic>
        <p:nvPicPr>
          <p:cNvPr id="9" name="Picture 8" descr="08_swagger_pred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735" y="1371600"/>
            <a:ext cx="3960729" cy="2331720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943600" y="3749040"/>
            <a:ext cx="5715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Swagger /predict</a:t>
            </a:r>
          </a:p>
        </p:txBody>
      </p:sp>
      <p:pic>
        <p:nvPicPr>
          <p:cNvPr id="11" name="Picture 10" descr="07_docker_build_r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888" y="3931920"/>
            <a:ext cx="3572423" cy="2103120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943600" y="6080760"/>
            <a:ext cx="5715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Build + smoke 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63946"/>
                </a:solidFill>
                <a:latin typeface="Calibri"/>
              </a:rPr>
              <a:t>TASK 7 ·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Calibri"/>
              </a:rPr>
              <a:t>Deployed on Kubernetes (Minikube)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Heart Disease Risk · End-to-End MLOps · AIMLCZG523 Assignment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6539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2062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E63946"/>
                </a:solidFill>
                <a:latin typeface="Calibri"/>
              </a:rPr>
              <a:t>▸  </a:t>
            </a:r>
            <a:r>
              <a:rPr sz="1400" b="1">
                <a:solidFill>
                  <a:srgbClr val="222B38"/>
                </a:solidFill>
                <a:latin typeface="Calibri"/>
              </a:rPr>
              <a:t>Deployment</a:t>
            </a:r>
            <a:r>
              <a:rPr sz="1400">
                <a:solidFill>
                  <a:srgbClr val="222B38"/>
                </a:solidFill>
                <a:latin typeface="Calibri"/>
              </a:rPr>
              <a:t> 2 replicas, rolling update, probes, limits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63946"/>
                </a:solidFill>
                <a:latin typeface="Calibri"/>
              </a:rPr>
              <a:t>▸  </a:t>
            </a:r>
            <a:r>
              <a:rPr sz="1400" b="1">
                <a:solidFill>
                  <a:srgbClr val="222B38"/>
                </a:solidFill>
                <a:latin typeface="Calibri"/>
              </a:rPr>
              <a:t>Service</a:t>
            </a:r>
            <a:r>
              <a:rPr sz="1400">
                <a:solidFill>
                  <a:srgbClr val="222B38"/>
                </a:solidFill>
                <a:latin typeface="Calibri"/>
              </a:rPr>
              <a:t> LoadBalancer on :8080 (minikube tunnel)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63946"/>
                </a:solidFill>
                <a:latin typeface="Calibri"/>
              </a:rPr>
              <a:t>▸  </a:t>
            </a:r>
            <a:r>
              <a:rPr sz="1400" b="1">
                <a:solidFill>
                  <a:srgbClr val="222B38"/>
                </a:solidFill>
                <a:latin typeface="Calibri"/>
              </a:rPr>
              <a:t>Ingress</a:t>
            </a:r>
            <a:r>
              <a:rPr sz="1400">
                <a:solidFill>
                  <a:srgbClr val="222B38"/>
                </a:solidFill>
                <a:latin typeface="Calibri"/>
              </a:rPr>
              <a:t> nginx, host heart-api.local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63946"/>
                </a:solidFill>
                <a:latin typeface="Calibri"/>
              </a:rPr>
              <a:t>▸  </a:t>
            </a:r>
            <a:r>
              <a:rPr sz="1400" b="1">
                <a:solidFill>
                  <a:srgbClr val="222B38"/>
                </a:solidFill>
                <a:latin typeface="Calibri"/>
              </a:rPr>
              <a:t>HPA</a:t>
            </a:r>
            <a:r>
              <a:rPr sz="1400">
                <a:solidFill>
                  <a:srgbClr val="222B38"/>
                </a:solidFill>
                <a:latin typeface="Calibri"/>
              </a:rPr>
              <a:t> 2–5 replicas at 70 % CPU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63946"/>
                </a:solidFill>
                <a:latin typeface="Calibri"/>
              </a:rPr>
              <a:t>▸  </a:t>
            </a:r>
            <a:r>
              <a:rPr sz="1400" b="1">
                <a:solidFill>
                  <a:srgbClr val="222B38"/>
                </a:solidFill>
                <a:latin typeface="Calibri"/>
              </a:rPr>
              <a:t>Kustomize</a:t>
            </a:r>
            <a:r>
              <a:rPr sz="1400">
                <a:solidFill>
                  <a:srgbClr val="222B38"/>
                </a:solidFill>
                <a:latin typeface="Calibri"/>
              </a:rPr>
              <a:t> kubectl apply -k k8s/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63946"/>
                </a:solidFill>
                <a:latin typeface="Calibri"/>
              </a:rPr>
              <a:t>▸  </a:t>
            </a:r>
            <a:r>
              <a:rPr sz="1400" b="1">
                <a:solidFill>
                  <a:srgbClr val="222B38"/>
                </a:solidFill>
                <a:latin typeface="Calibri"/>
              </a:rPr>
              <a:t>One script</a:t>
            </a:r>
            <a:r>
              <a:rPr sz="1400">
                <a:solidFill>
                  <a:srgbClr val="222B38"/>
                </a:solidFill>
                <a:latin typeface="Calibri"/>
              </a:rPr>
              <a:t> ./scripts/deploy_minikube.sh</a:t>
            </a:r>
          </a:p>
        </p:txBody>
      </p:sp>
      <p:pic>
        <p:nvPicPr>
          <p:cNvPr id="8" name="Picture 7" descr="09_k8s_resour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196" y="1371600"/>
            <a:ext cx="3805407" cy="2240280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0" y="3657600"/>
            <a:ext cx="6629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Cluster resources</a:t>
            </a:r>
          </a:p>
        </p:txBody>
      </p:sp>
      <p:pic>
        <p:nvPicPr>
          <p:cNvPr id="10" name="Picture 9" descr="10_k8s_predict_ing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688" y="3931920"/>
            <a:ext cx="3572423" cy="2103120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029200" y="6080760"/>
            <a:ext cx="6629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Prediction through the Ingress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63946"/>
                </a:solidFill>
                <a:latin typeface="Calibri"/>
              </a:rPr>
              <a:t>TASK 8 ·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Calibri"/>
              </a:rPr>
              <a:t>Monitoring: logs, metrics,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Heart Disease Risk · End-to-End MLOps · AIMLCZG523 Assignment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6539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 / 15</a:t>
            </a:r>
          </a:p>
        </p:txBody>
      </p:sp>
      <p:pic>
        <p:nvPicPr>
          <p:cNvPr id="7" name="Picture 6" descr="12_grafana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41" y="1371600"/>
            <a:ext cx="6678877" cy="3931920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349240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Grafana dashboard</a:t>
            </a:r>
          </a:p>
        </p:txBody>
      </p:sp>
      <p:pic>
        <p:nvPicPr>
          <p:cNvPr id="9" name="Picture 8" descr="13_api_json_l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133" y="1371600"/>
            <a:ext cx="3106454" cy="1828800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818120" y="32461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JSON request logs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657600"/>
            <a:ext cx="38404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63946"/>
                </a:solidFill>
                <a:latin typeface="Calibri"/>
              </a:rPr>
              <a:t>▸  </a:t>
            </a:r>
            <a:r>
              <a:rPr sz="1300" b="0">
                <a:solidFill>
                  <a:srgbClr val="222B38"/>
                </a:solidFill>
                <a:latin typeface="Calibri"/>
              </a:rPr>
              <a:t>Request rate, p95 latency, errors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63946"/>
                </a:solidFill>
                <a:latin typeface="Calibri"/>
              </a:rPr>
              <a:t>▸  </a:t>
            </a:r>
            <a:r>
              <a:rPr sz="1300" b="0">
                <a:solidFill>
                  <a:srgbClr val="222B38"/>
                </a:solidFill>
                <a:latin typeface="Calibri"/>
              </a:rPr>
              <a:t>Predictions per class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63946"/>
                </a:solidFill>
                <a:latin typeface="Calibri"/>
              </a:rPr>
              <a:t>▸  </a:t>
            </a:r>
            <a:r>
              <a:rPr sz="1300" b="1">
                <a:solidFill>
                  <a:srgbClr val="222B38"/>
                </a:solidFill>
                <a:latin typeface="Calibri"/>
              </a:rPr>
              <a:t>Mean P(disease)</a:t>
            </a:r>
            <a:r>
              <a:rPr sz="1300">
                <a:solidFill>
                  <a:srgbClr val="222B38"/>
                </a:solidFill>
                <a:latin typeface="Calibri"/>
              </a:rPr>
              <a:t> drift signal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63946"/>
                </a:solidFill>
                <a:latin typeface="Calibri"/>
              </a:rPr>
              <a:t>▸  </a:t>
            </a:r>
            <a:r>
              <a:rPr sz="1300" b="0">
                <a:solidFill>
                  <a:srgbClr val="222B38"/>
                </a:solidFill>
                <a:latin typeface="Calibri"/>
              </a:rPr>
              <a:t>Prometheus pod discovery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A2A8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From raw CSV to a monitored API — fully automated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0.905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9D3E6"/>
                </a:solidFill>
                <a:latin typeface="Calibri"/>
              </a:rPr>
              <a:t>CV ROC-AUC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377440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96%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2004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9D3E6"/>
                </a:solidFill>
                <a:latin typeface="Calibri"/>
              </a:rPr>
              <a:t>hold-out 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0"/>
            <a:ext cx="256032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400" b="1" dirty="0">
                <a:solidFill>
                  <a:srgbClr val="FFFFFF"/>
                </a:solidFill>
                <a:latin typeface="Calibri"/>
              </a:rPr>
              <a:t>48</a:t>
            </a:r>
            <a:endParaRPr sz="4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0" y="32004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9D3E6"/>
                </a:solidFill>
                <a:latin typeface="Calibri"/>
              </a:rPr>
              <a:t>unit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377440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2004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9D3E6"/>
                </a:solidFill>
                <a:latin typeface="Calibri"/>
              </a:rPr>
              <a:t>CI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4A2A8"/>
                </a:solidFill>
                <a:latin typeface="Calibri"/>
              </a:rP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C9D3E6"/>
                </a:solidFill>
                <a:latin typeface="Calibri"/>
              </a:rPr>
              <a:t>Probability calibration and a recall-oriented threshold · per-feature drift tests on logged inputs</a:t>
            </a:r>
          </a:p>
          <a:p>
            <a:pPr algn="l"/>
            <a:r>
              <a:rPr sz="1500" b="0">
                <a:solidFill>
                  <a:srgbClr val="C9D3E6"/>
                </a:solidFill>
                <a:latin typeface="Calibri"/>
              </a:rPr>
              <a:t>Remote MLflow server with model promotion · Helm chart with separate environments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https://github.com/TilakMtech/heart-mlops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1334</Words>
  <Application>Microsoft Macintosh PowerPoint</Application>
  <PresentationFormat>Widescreen</PresentationFormat>
  <Paragraphs>221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 GANGADHARA TILAK .</cp:lastModifiedBy>
  <cp:revision>3</cp:revision>
  <dcterms:created xsi:type="dcterms:W3CDTF">2013-01-27T09:14:16Z</dcterms:created>
  <dcterms:modified xsi:type="dcterms:W3CDTF">2026-10-18T17:27:31Z</dcterms:modified>
  <cp:category/>
</cp:coreProperties>
</file>