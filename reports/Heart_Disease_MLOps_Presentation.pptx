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1"/>
  </p:normalViewPr>
  <p:slideViewPr>
    <p:cSldViewPr snapToGrid="0" snapToObjects="1">
      <p:cViewPr varScale="1">
        <p:scale>
          <a:sx n="114" d="100"/>
          <a:sy n="114" d="100"/>
        </p:scale>
        <p:origin x="18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la Gangadhara Tilak Mamidipalli" userId="cc6dced0-af62-4b81-9fa9-0d57949abe2e" providerId="ADAL" clId="{A41D7614-3A55-5359-8898-3B322E14D330}"/>
    <pc:docChg chg="modSld">
      <pc:chgData name="Bala Gangadhara Tilak Mamidipalli" userId="cc6dced0-af62-4b81-9fa9-0d57949abe2e" providerId="ADAL" clId="{A41D7614-3A55-5359-8898-3B322E14D330}" dt="2026-10-18T21:47:59.992" v="1" actId="20577"/>
      <pc:docMkLst>
        <pc:docMk/>
      </pc:docMkLst>
      <pc:sldChg chg="modSp mod">
        <pc:chgData name="Bala Gangadhara Tilak Mamidipalli" userId="cc6dced0-af62-4b81-9fa9-0d57949abe2e" providerId="ADAL" clId="{A41D7614-3A55-5359-8898-3B322E14D330}" dt="2026-10-18T21:47:59.992" v="1" actId="20577"/>
        <pc:sldMkLst>
          <pc:docMk/>
          <pc:sldMk cId="0" sldId="270"/>
        </pc:sldMkLst>
        <pc:spChg chg="mod">
          <ac:chgData name="Bala Gangadhara Tilak Mamidipalli" userId="cc6dced0-af62-4b81-9fa9-0d57949abe2e" providerId="ADAL" clId="{A41D7614-3A55-5359-8898-3B322E14D330}" dt="2026-10-18T21:47:59.992" v="1" actId="20577"/>
          <ac:spMkLst>
            <pc:docMk/>
            <pc:sldMk cId="0" sldId="270"/>
            <ac:spMk id="8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CV ROC-AUC (5-fold)</c:v>
                </c:pt>
              </c:strCache>
            </c:strRef>
          </c:tx>
          <c:spPr>
            <a:solidFill>
              <a:srgbClr val="14213D"/>
            </a:solidFill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logreg_baseline</c:v>
                </c:pt>
                <c:pt idx="1">
                  <c:v>logreg</c:v>
                </c:pt>
                <c:pt idx="2">
                  <c:v>random_forest</c:v>
                </c:pt>
                <c:pt idx="3">
                  <c:v>gradient_boosting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0.90400000000000003</c:v>
                </c:pt>
                <c:pt idx="1">
                  <c:v>0.90500000000000003</c:v>
                </c:pt>
                <c:pt idx="2">
                  <c:v>0.89100000000000001</c:v>
                </c:pt>
                <c:pt idx="3">
                  <c:v>0.88300000000000001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669-ED41-BA4B-16B193EDD0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Hold-out ROC-AUC</c:v>
                </c:pt>
              </c:strCache>
            </c:strRef>
          </c:tx>
          <c:spPr>
            <a:solidFill>
              <a:srgbClr val="2A9D8F"/>
            </a:solidFill>
          </c:spPr>
          <c:invertIfNegative val="1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logreg_baseline</c:v>
                </c:pt>
                <c:pt idx="1">
                  <c:v>logreg</c:v>
                </c:pt>
                <c:pt idx="2">
                  <c:v>random_forest</c:v>
                </c:pt>
                <c:pt idx="3">
                  <c:v>gradient_boosting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0.96899999999999997</c:v>
                </c:pt>
                <c:pt idx="1">
                  <c:v>0.97</c:v>
                </c:pt>
                <c:pt idx="2">
                  <c:v>0.96499999999999997</c:v>
                </c:pt>
                <c:pt idx="3">
                  <c:v>0.95799999999999996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669-ED41-BA4B-16B193EDD0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.8"/>
        </c:scaling>
        <c:delete val="0"/>
        <c:axPos val="l"/>
        <c:majorGridlines>
          <c:spPr>
            <a:ln>
              <a:solidFill>
                <a:srgbClr val="D9DCE1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1042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goal: a heart-disease classifier operated like a production model — everything from data download to monitoring is automated and reproducible.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Map each assignment task to what was built; details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src/heart is the single implementation of cleaning, features and inference; notebooks, training CLI, tests and the API all import it. CI builds the image that Kubernetes runs; Prometheus scrapes the pods.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Demo: python scripts/download_data.py --force. Explain why imputation is not done in cleaning.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Mention the other figures in reports/figures (histograms, boxplots).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src/heart/features.py. Point out the ablation model without engineered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Rule: highest mean 5-fold CV ROC-AUC on the training split; hold-out used only for reporting. Linear models beat tree ensembles on 303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Recall matters most clinically: missing a disease case is costly.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Demo: make mlflow → http://localhost:5000, open a child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Demo: run make lint test live in the terminal.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Quality gate: CV ROC-AUC ≥ 0.85. Artifacts: lint report, JUnit, coverage, model, MLflow store, container logs. Image pushed to GHCR on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Demo: make docker-build docker-run smoke.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Demo: kubectl -n heart-mlops get pods,svc,ingress,hpa; curl http://heart-api.local/health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Demo: python scripts/load_test.py --url http://heart-api.local, then show Grafana panels updating.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the audience, share the repo link,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1417320"/>
            <a:ext cx="109728" cy="192024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13258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4A2A8"/>
                </a:solidFill>
                <a:latin typeface="Calibri"/>
              </a:rPr>
              <a:t>MLOPS · ASSIGNMENT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73736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Heart Disease Risk Prediction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End-to-End MLOps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5468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C9D3E6"/>
                </a:solidFill>
                <a:latin typeface="Calibri"/>
              </a:rPr>
              <a:t>Data → Model → Tracking → CI/CD → Docker → Kubernetes →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84632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Bala Gangadhara Tilak</a:t>
            </a:r>
          </a:p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AIMLCZG523 Machine Learning Operations · BITS Pilani</a:t>
            </a:r>
          </a:p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https://github.com/TilakMtech/heart-mlops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Nine assignment tasks, one reproducible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77240" y="171907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9164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Data &amp; 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8483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download script, cleaning, 6 figures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46304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572000" y="171907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169164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Features &amp;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08483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sklearn Pipeline, 4 tuned models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46304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66760" y="171907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69164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Experiment tracking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08483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MLflow runs, params, plots, registry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97180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322783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20040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Packaging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59359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model.joblib + meta, pinned deps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297180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572000" y="322783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320040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CI/CD &amp;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359359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GitHub Actions, 37 pytest tests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297180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366760" y="322783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20040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Containerisation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59359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FastAPI /predict in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48056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777240" y="473659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70916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Deployment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510235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Minikube: Deployment, LB, Ingress, HPA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448056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572000" y="473659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60" y="470916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Monitoring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6360" y="510235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JSON logs, Prometheus, Grafana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4480560"/>
            <a:ext cx="3566160" cy="132588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366760" y="4736592"/>
            <a:ext cx="438912" cy="438912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470916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14213D"/>
                </a:solidFill>
                <a:latin typeface="Calibri"/>
              </a:rPr>
              <a:t>Documentation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5102352"/>
            <a:ext cx="2560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report, README, architecture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Architecture: one package used by every stage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3 / 15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88" y="1325880"/>
            <a:ext cx="10899544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1 · DATA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Data: 303 Cleveland patients, nearly balanced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7627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patients (UCI Cleveland)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463040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E63946"/>
                </a:solidFill>
                <a:latin typeface="Calibri"/>
              </a:rPr>
              <a:t>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17627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have heart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5643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input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743200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2A9D8F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5643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missing values (ca, thal)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493776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Download script</a:t>
            </a:r>
            <a:r>
              <a:rPr sz="1400">
                <a:solidFill>
                  <a:srgbClr val="222B38"/>
                </a:solidFill>
                <a:latin typeface="Calibri"/>
              </a:rPr>
              <a:t> UCI first, GitHub mirror fallback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Stateless cleaning</a:t>
            </a:r>
            <a:r>
              <a:rPr sz="1400">
                <a:solidFill>
                  <a:srgbClr val="222B38"/>
                </a:solidFill>
                <a:latin typeface="Calibri"/>
              </a:rPr>
              <a:t> '?' → NaN, target num&gt;0 → 1, range checks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Imputation inside the pipeline</a:t>
            </a:r>
            <a:r>
              <a:rPr sz="1400">
                <a:solidFill>
                  <a:srgbClr val="222B38"/>
                </a:solidFill>
                <a:latin typeface="Calibri"/>
              </a:rPr>
              <a:t> no leakage, same at serving</a:t>
            </a:r>
          </a:p>
        </p:txBody>
      </p:sp>
      <p:pic>
        <p:nvPicPr>
          <p:cNvPr id="16" name="Picture 15" descr="01_class_bal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63624"/>
            <a:ext cx="5577840" cy="4462272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1 ·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EDA: chest pain, thal and vessels carry the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 / 15</a:t>
            </a:r>
          </a:p>
        </p:txBody>
      </p:sp>
      <p:pic>
        <p:nvPicPr>
          <p:cNvPr id="7" name="Picture 6" descr="03_categorical_disease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00175"/>
            <a:ext cx="6766560" cy="296037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pic>
        <p:nvPicPr>
          <p:cNvPr id="8" name="Picture 7" descr="04_correlation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545336"/>
            <a:ext cx="4023360" cy="3218688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461772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Strongest correlations with target:</a:t>
            </a:r>
            <a:r>
              <a:rPr sz="1300">
                <a:solidFill>
                  <a:srgbClr val="222B38"/>
                </a:solidFill>
                <a:latin typeface="Calibri"/>
              </a:rPr>
              <a:t>  thal 0.53, ca 0.46, exang 0.43, oldpeak 0.42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Asymptomatic chest pain (cp=4) and reversible defect (thal=7)</a:t>
            </a:r>
            <a:r>
              <a:rPr sz="1300">
                <a:solidFill>
                  <a:srgbClr val="222B38"/>
                </a:solidFill>
                <a:latin typeface="Calibri"/>
              </a:rPr>
              <a:t>  → disease rate above 70 %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chol, trestbps</a:t>
            </a:r>
            <a:r>
              <a:rPr sz="1300">
                <a:solidFill>
                  <a:srgbClr val="222B38"/>
                </a:solidFill>
                <a:latin typeface="Calibri"/>
              </a:rPr>
              <a:t>  overlap heavily between classes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2 ·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Feature engineering lives inside the model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468880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84708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HeartFeatureBuilder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C9D3E6"/>
                </a:solidFill>
                <a:latin typeface="Calibri"/>
              </a:rPr>
              <a:t>derived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993392"/>
            <a:ext cx="3840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E63946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1568" y="1645920"/>
            <a:ext cx="2468880" cy="1143000"/>
          </a:xfrm>
          <a:prstGeom prst="rect">
            <a:avLst/>
          </a:prstGeom>
          <a:solidFill>
            <a:srgbClr val="1F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01568" y="184708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28600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C9D3E6"/>
                </a:solidFill>
                <a:latin typeface="Calibri"/>
              </a:rPr>
              <a:t>median /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0448" y="1993392"/>
            <a:ext cx="3840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E63946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1645920"/>
            <a:ext cx="2468880" cy="1143000"/>
          </a:xfrm>
          <a:prstGeom prst="rect">
            <a:avLst/>
          </a:prstGeom>
          <a:solidFill>
            <a:srgbClr val="1F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4496" y="184708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Scale + One-hot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28600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C9D3E6"/>
                </a:solidFill>
                <a:latin typeface="Calibri"/>
              </a:rPr>
              <a:t>ColumnTransformer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1993392"/>
            <a:ext cx="3840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>
                <a:solidFill>
                  <a:srgbClr val="E63946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07424" y="1645920"/>
            <a:ext cx="2468880" cy="1143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07424" y="1847088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228600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C9D3E6"/>
                </a:solidFill>
                <a:latin typeface="Calibri"/>
              </a:rPr>
              <a:t>tuned estimator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246120"/>
            <a:ext cx="56692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hr_reserve_pct</a:t>
            </a:r>
            <a:r>
              <a:rPr sz="1400">
                <a:solidFill>
                  <a:srgbClr val="222B38"/>
                </a:solidFill>
                <a:latin typeface="Calibri"/>
              </a:rPr>
              <a:t> thalach / (220 − age)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chol_per_age</a:t>
            </a:r>
            <a:r>
              <a:rPr sz="1400">
                <a:solidFill>
                  <a:srgbClr val="222B38"/>
                </a:solidFill>
                <a:latin typeface="Calibri"/>
              </a:rPr>
              <a:t> cholesterol load relative to age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st_risk_flag</a:t>
            </a:r>
            <a:r>
              <a:rPr sz="1400">
                <a:solidFill>
                  <a:srgbClr val="222B38"/>
                </a:solidFill>
                <a:latin typeface="Calibri"/>
              </a:rPr>
              <a:t> oldpeak ≥ 2 or exercise angina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One object saved</a:t>
            </a:r>
            <a:r>
              <a:rPr sz="1400">
                <a:solidFill>
                  <a:srgbClr val="222B38"/>
                </a:solidFill>
                <a:latin typeface="Calibri"/>
              </a:rPr>
              <a:t> training and API apply identical transforms</a:t>
            </a:r>
          </a:p>
        </p:txBody>
      </p:sp>
      <p:pic>
        <p:nvPicPr>
          <p:cNvPr id="23" name="Picture 22" descr="logreg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3108960"/>
            <a:ext cx="4352544" cy="310896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2 · MODEL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logreg wins on cross-validated ROC-AUC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 / 15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371600"/>
          <a:ext cx="731520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0" y="1463040"/>
            <a:ext cx="3429000" cy="4663440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169164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SELECTED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6596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Calibri"/>
              </a:rPr>
              <a:t>logreg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468880"/>
            <a:ext cx="2926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C=0.3, class_weight=balanced, penalty=l1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154680"/>
            <a:ext cx="29260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0.905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867912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CV ROC-AUC  (± 0.013)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389120"/>
            <a:ext cx="29260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E63946"/>
                </a:solidFill>
                <a:latin typeface="Calibri"/>
              </a:rPr>
              <a:t>96%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102352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hold-out recall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2 ·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Selected model on the hold-out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 / 15</a:t>
            </a:r>
          </a:p>
        </p:txBody>
      </p:sp>
      <p:pic>
        <p:nvPicPr>
          <p:cNvPr id="7" name="Picture 6" descr="logreg_evalu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64195"/>
            <a:ext cx="11064240" cy="3180969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22960" y="507492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86.9%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788152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507492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79.4%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788152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507492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E63946"/>
                </a:solidFill>
                <a:latin typeface="Calibri"/>
              </a:rPr>
              <a:t>96.4%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788152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5074920"/>
            <a:ext cx="25603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14213D"/>
                </a:solidFill>
                <a:latin typeface="Calibri"/>
              </a:rPr>
              <a:t>0.970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5788152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ROC-AUC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3 · EXPERIMENT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Every run tracked in MLflow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 / 15</a:t>
            </a:r>
          </a:p>
        </p:txBody>
      </p:sp>
      <p:pic>
        <p:nvPicPr>
          <p:cNvPr id="7" name="Picture 6" descr="01_mlflow_experi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02572"/>
            <a:ext cx="5486400" cy="3229896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Parent + nested runs</a:t>
            </a:r>
          </a:p>
        </p:txBody>
      </p:sp>
      <p:pic>
        <p:nvPicPr>
          <p:cNvPr id="9" name="Picture 8" descr="02_mlflow_run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402572"/>
            <a:ext cx="5486400" cy="3229896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172200" y="47091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Run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Params</a:t>
            </a:r>
            <a:r>
              <a:rPr sz="1300">
                <a:solidFill>
                  <a:srgbClr val="222B38"/>
                </a:solidFill>
                <a:latin typeface="Calibri"/>
              </a:rPr>
              <a:t> best hyper-parameters, grid size, feature set    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Metrics</a:t>
            </a:r>
            <a:r>
              <a:rPr sz="1300">
                <a:solidFill>
                  <a:srgbClr val="222B38"/>
                </a:solidFill>
                <a:latin typeface="Calibri"/>
              </a:rPr>
              <a:t> CV mean ± std for 5 metrics, hold-out metrics    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Artifacts</a:t>
            </a:r>
            <a:r>
              <a:rPr sz="1300">
                <a:solidFill>
                  <a:srgbClr val="222B38"/>
                </a:solidFill>
                <a:latin typeface="Calibri"/>
              </a:rPr>
              <a:t> plots, grid results, model with signature, registry entry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TASKS 4–5 · PACKAGING &amp;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Reproducible packaging and automated tests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models/model.joblib</a:t>
            </a:r>
            <a:r>
              <a:rPr sz="1500">
                <a:solidFill>
                  <a:srgbClr val="222B38"/>
                </a:solidFill>
                <a:latin typeface="Calibri"/>
              </a:rPr>
              <a:t> whole pipeline in one object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model_meta.json</a:t>
            </a:r>
            <a:r>
              <a:rPr sz="1500">
                <a:solidFill>
                  <a:srgbClr val="222B38"/>
                </a:solidFill>
                <a:latin typeface="Calibri"/>
              </a:rPr>
              <a:t> version, run IDs, params, metrics, feature order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3-layer requirements</a:t>
            </a:r>
            <a:r>
              <a:rPr sz="1500">
                <a:solidFill>
                  <a:srgbClr val="222B38"/>
                </a:solidFill>
                <a:latin typeface="Calibri"/>
              </a:rPr>
              <a:t> serve · train · dev, all pinned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Fixed seeds</a:t>
            </a:r>
            <a:r>
              <a:rPr sz="1500">
                <a:solidFill>
                  <a:srgbClr val="222B38"/>
                </a:solidFill>
                <a:latin typeface="Calibri"/>
              </a:rPr>
              <a:t> RANDOM_STATE = 42 everywhere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37 pytest tests</a:t>
            </a:r>
            <a:r>
              <a:rPr sz="1500">
                <a:solidFill>
                  <a:srgbClr val="222B38"/>
                </a:solidFill>
                <a:latin typeface="Calibri"/>
              </a:rPr>
              <a:t> data, features, model, API — no network needed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63946"/>
                </a:solidFill>
                <a:latin typeface="Calibri"/>
              </a:rPr>
              <a:t>▸  </a:t>
            </a:r>
            <a:r>
              <a:rPr sz="1500" b="1">
                <a:solidFill>
                  <a:srgbClr val="222B38"/>
                </a:solidFill>
                <a:latin typeface="Calibri"/>
              </a:rPr>
              <a:t>Make targets</a:t>
            </a:r>
            <a:r>
              <a:rPr sz="1500">
                <a:solidFill>
                  <a:srgbClr val="222B38"/>
                </a:solidFill>
                <a:latin typeface="Calibri"/>
              </a:rPr>
              <a:t> make data · train · test · lint · docker-build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57800" cy="46634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make lint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python -m flake8</a:t>
            </a:r>
          </a:p>
          <a:p>
            <a:pPr algn="l"/>
            <a:endParaRPr sz="1500" b="0">
              <a:solidFill>
                <a:srgbClr val="C9D3E6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make test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37 passed</a:t>
            </a:r>
          </a:p>
          <a:p>
            <a:pPr algn="l"/>
            <a:endParaRPr sz="1500" b="0">
              <a:solidFill>
                <a:srgbClr val="C9D3E6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make train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Selected logreg -&gt; models/model.joblib</a:t>
            </a:r>
          </a:p>
          <a:p>
            <a:pPr algn="l"/>
            <a:endParaRPr sz="1500" b="0">
              <a:solidFill>
                <a:srgbClr val="C9D3E6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make docker-build docker-run smoke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SMOKE TEST PASSED</a:t>
            </a:r>
          </a:p>
          <a:p>
            <a:pPr algn="l"/>
            <a:endParaRPr sz="1500" b="0">
              <a:solidFill>
                <a:srgbClr val="C9D3E6"/>
              </a:solidFill>
              <a:latin typeface="Calibri"/>
            </a:endParaRP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$ ./scripts/deploy_minikube.sh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deployment "heart-api" successfully rolled 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5 · CI/CD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GitHub Actions gates every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057400" cy="6400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417320"/>
            <a:ext cx="2057400" cy="6400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07208" y="141732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k8s-validate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65776" y="1417320"/>
            <a:ext cx="2057400" cy="6400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65776" y="141732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24344" y="1417320"/>
            <a:ext cx="2057400" cy="64008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24344" y="141732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train +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82912" y="1417320"/>
            <a:ext cx="2057400" cy="64008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582912" y="141732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pic>
        <p:nvPicPr>
          <p:cNvPr id="17" name="Picture 16" descr="04_github_actions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059" y="2331720"/>
            <a:ext cx="5824602" cy="342900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548640" y="5806440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Green run on main</a:t>
            </a:r>
          </a:p>
        </p:txBody>
      </p:sp>
      <p:pic>
        <p:nvPicPr>
          <p:cNvPr id="19" name="Picture 18" descr="06_github_actions_fail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79" y="2888840"/>
            <a:ext cx="3931920" cy="2314759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726679" y="58064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Lint error stops the pipeline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6 · CONTAINERISATION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FastAPI service in a slim, non-root container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 /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1206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Returns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POST /predict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prediction, confidence, risk band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POST /predict/batch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up to 500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GET /health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200 when model loaded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GET /metrics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Prometheus 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B38"/>
                          </a:solidFill>
                          <a:latin typeface="Calibri"/>
                        </a:rPr>
                        <a:t>GET /docs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B38"/>
                          </a:solidFill>
                          <a:latin typeface="Calibri"/>
                        </a:rPr>
                        <a:t>Swagger UI</a:t>
                      </a:r>
                    </a:p>
                  </a:txBody>
                  <a:tcPr>
                    <a:solidFill>
                      <a:srgbClr val="F6F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26280"/>
            <a:ext cx="51206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python:3.11-slim</a:t>
            </a:r>
            <a:r>
              <a:rPr sz="1300">
                <a:solidFill>
                  <a:srgbClr val="222B38"/>
                </a:solidFill>
                <a:latin typeface="Calibri"/>
              </a:rPr>
              <a:t> serving deps only, UID 1001, HEALTHCHECK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Pydantic validation</a:t>
            </a:r>
            <a:r>
              <a:rPr sz="1300">
                <a:solidFill>
                  <a:srgbClr val="222B38"/>
                </a:solidFill>
                <a:latin typeface="Calibri"/>
              </a:rPr>
              <a:t> bad input → 422</a:t>
            </a:r>
          </a:p>
        </p:txBody>
      </p:sp>
      <p:pic>
        <p:nvPicPr>
          <p:cNvPr id="9" name="Picture 8" descr="08_swagger_predi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735" y="1371600"/>
            <a:ext cx="3960729" cy="233172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943600" y="3749040"/>
            <a:ext cx="5715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Swagger /predict</a:t>
            </a:r>
          </a:p>
        </p:txBody>
      </p:sp>
      <p:pic>
        <p:nvPicPr>
          <p:cNvPr id="11" name="Picture 10" descr="07_docker_build_r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4888" y="3931920"/>
            <a:ext cx="3572423" cy="210312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943600" y="6080760"/>
            <a:ext cx="5715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Build + smoke 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7 ·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Deployed on Kubernetes (Minikube)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420624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Deployment</a:t>
            </a:r>
            <a:r>
              <a:rPr sz="1400">
                <a:solidFill>
                  <a:srgbClr val="222B38"/>
                </a:solidFill>
                <a:latin typeface="Calibri"/>
              </a:rPr>
              <a:t> 2 replicas, rolling update, probes, limits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Service</a:t>
            </a:r>
            <a:r>
              <a:rPr sz="1400">
                <a:solidFill>
                  <a:srgbClr val="222B38"/>
                </a:solidFill>
                <a:latin typeface="Calibri"/>
              </a:rPr>
              <a:t> LoadBalancer on :8080 (minikube tunnel)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Ingress</a:t>
            </a:r>
            <a:r>
              <a:rPr sz="1400">
                <a:solidFill>
                  <a:srgbClr val="222B38"/>
                </a:solidFill>
                <a:latin typeface="Calibri"/>
              </a:rPr>
              <a:t> nginx, host heart-api.local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HPA</a:t>
            </a:r>
            <a:r>
              <a:rPr sz="1400">
                <a:solidFill>
                  <a:srgbClr val="222B38"/>
                </a:solidFill>
                <a:latin typeface="Calibri"/>
              </a:rPr>
              <a:t> 2–5 replicas at 70 % CPU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Kustomize</a:t>
            </a:r>
            <a:r>
              <a:rPr sz="1400">
                <a:solidFill>
                  <a:srgbClr val="222B38"/>
                </a:solidFill>
                <a:latin typeface="Calibri"/>
              </a:rPr>
              <a:t> kubectl apply -k k8s/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E63946"/>
                </a:solidFill>
                <a:latin typeface="Calibri"/>
              </a:rPr>
              <a:t>▸  </a:t>
            </a:r>
            <a:r>
              <a:rPr sz="1400" b="1">
                <a:solidFill>
                  <a:srgbClr val="222B38"/>
                </a:solidFill>
                <a:latin typeface="Calibri"/>
              </a:rPr>
              <a:t>One script</a:t>
            </a:r>
            <a:r>
              <a:rPr sz="1400">
                <a:solidFill>
                  <a:srgbClr val="222B38"/>
                </a:solidFill>
                <a:latin typeface="Calibri"/>
              </a:rPr>
              <a:t> ./scripts/deploy_minikube.sh</a:t>
            </a:r>
          </a:p>
        </p:txBody>
      </p:sp>
      <p:pic>
        <p:nvPicPr>
          <p:cNvPr id="8" name="Picture 7" descr="09_k8s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196" y="1371600"/>
            <a:ext cx="3805407" cy="224028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0" y="3657600"/>
            <a:ext cx="6629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Cluster resources</a:t>
            </a:r>
          </a:p>
        </p:txBody>
      </p:sp>
      <p:pic>
        <p:nvPicPr>
          <p:cNvPr id="10" name="Picture 9" descr="10_k8s_predict_ingr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688" y="3931920"/>
            <a:ext cx="3572423" cy="210312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029200" y="6080760"/>
            <a:ext cx="6629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Prediction through the Ingress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3946"/>
                </a:solidFill>
                <a:latin typeface="Calibri"/>
              </a:rPr>
              <a:t>TASK 8 ·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Calibri"/>
              </a:rPr>
              <a:t>Monitoring: logs, metrics,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56539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Heart Disease Risk · End-to-End MLOps · AIMLCZG523 Assignment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56539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 / 15</a:t>
            </a:r>
          </a:p>
        </p:txBody>
      </p:sp>
      <p:pic>
        <p:nvPicPr>
          <p:cNvPr id="7" name="Picture 6" descr="12_grafana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41" y="1371600"/>
            <a:ext cx="6678877" cy="393192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349240"/>
            <a:ext cx="7040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Grafana dashboard</a:t>
            </a:r>
          </a:p>
        </p:txBody>
      </p:sp>
      <p:pic>
        <p:nvPicPr>
          <p:cNvPr id="9" name="Picture 8" descr="13_api_json_lo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133" y="1371600"/>
            <a:ext cx="3106454" cy="1828800"/>
          </a:xfrm>
          <a:prstGeom prst="rect">
            <a:avLst/>
          </a:prstGeom>
          <a:ln w="9525">
            <a:solidFill>
              <a:srgbClr val="D9DCE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818120" y="32461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JSON request logs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657600"/>
            <a:ext cx="38404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0">
                <a:solidFill>
                  <a:srgbClr val="222B38"/>
                </a:solidFill>
                <a:latin typeface="Calibri"/>
              </a:rPr>
              <a:t>Request rate, p95 latency, errors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0">
                <a:solidFill>
                  <a:srgbClr val="222B38"/>
                </a:solidFill>
                <a:latin typeface="Calibri"/>
              </a:rPr>
              <a:t>Predictions per class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1">
                <a:solidFill>
                  <a:srgbClr val="222B38"/>
                </a:solidFill>
                <a:latin typeface="Calibri"/>
              </a:rPr>
              <a:t>Mean P(disease)</a:t>
            </a:r>
            <a:r>
              <a:rPr sz="1300">
                <a:solidFill>
                  <a:srgbClr val="222B38"/>
                </a:solidFill>
                <a:latin typeface="Calibri"/>
              </a:rPr>
              <a:t> drift signal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3946"/>
                </a:solidFill>
                <a:latin typeface="Calibri"/>
              </a:rPr>
              <a:t>▸  </a:t>
            </a:r>
            <a:r>
              <a:rPr sz="1300" b="0">
                <a:solidFill>
                  <a:srgbClr val="222B38"/>
                </a:solidFill>
                <a:latin typeface="Calibri"/>
              </a:rPr>
              <a:t>Prometheus pod discovery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F4A2A8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From raw CSV to a monitored API — fully automated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0.905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CV ROC-AUC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20040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hold-out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b="1">
                <a:solidFill>
                  <a:srgbClr val="FFFFFF"/>
                </a:solidFill>
                <a:latin typeface="Calibri"/>
              </a:rPr>
              <a:t>48</a:t>
            </a:r>
            <a:endParaRPr sz="4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unit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20040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D3E6"/>
                </a:solidFill>
                <a:latin typeface="Calibri"/>
              </a:rPr>
              <a:t>CI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4A2A8"/>
                </a:solidFill>
                <a:latin typeface="Calibri"/>
              </a:rPr>
              <a:t>Next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Probability calibration and a recall-oriented threshold · per-feature drift tests on logged inputs</a:t>
            </a:r>
          </a:p>
          <a:p>
            <a:pPr algn="l"/>
            <a:r>
              <a:rPr sz="1500" b="0">
                <a:solidFill>
                  <a:srgbClr val="C9D3E6"/>
                </a:solidFill>
                <a:latin typeface="Calibri"/>
              </a:rPr>
              <a:t>Remote MLflow server with model promotion · Helm chart with separate environments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https://github.com/TilakMtech/heart-mlops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1334</Words>
  <Application>Microsoft Macintosh PowerPoint</Application>
  <PresentationFormat>Widescreen</PresentationFormat>
  <Paragraphs>221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BALA GANGADHARA TILAK .</cp:lastModifiedBy>
  <cp:revision>1</cp:revision>
  <dcterms:created xsi:type="dcterms:W3CDTF">2013-01-27T09:14:16Z</dcterms:created>
  <dcterms:modified xsi:type="dcterms:W3CDTF">2026-10-18T21:48:09Z</dcterms:modified>
  <cp:category/>
</cp:coreProperties>
</file>